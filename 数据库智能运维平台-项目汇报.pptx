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2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011680"/>
            <a:ext cx="6400800" cy="6400800"/>
          </a:xfrm>
          <a:prstGeom prst="ellipse">
            <a:avLst/>
          </a:prstGeom>
          <a:solidFill>
            <a:srgbClr val="0052D9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480560"/>
            <a:ext cx="4754880" cy="4754880"/>
          </a:xfrm>
          <a:prstGeom prst="ellipse">
            <a:avLst/>
          </a:prstGeom>
          <a:solidFill>
            <a:srgbClr val="006AFF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092440" y="1874520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006AFF"/>
          </a:solidFill>
          <a:ln w="9525">
            <a:solidFill>
              <a:srgbClr val="3A54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48472" y="2606040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0052D9"/>
          </a:solidFill>
          <a:ln w="9525">
            <a:solidFill>
              <a:srgbClr val="3A54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04504" y="3337560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0E1A30"/>
          </a:solidFill>
          <a:ln w="9525">
            <a:solidFill>
              <a:srgbClr val="3A54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92440" y="14813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· LLM-NATIVE DB OPS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77240" y="640080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006AFF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640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89888" y="640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DB Copilot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89888" y="9144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数据库智能运维平台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77240" y="237744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数据库智能运维平台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777240" y="331012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DB Copilot · 项目规划 / 架构设计 / 实施进展 / 任务分派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77240" y="382219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6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监控大盘 · 智能诊断 · 多 Agent 对话 · 统一数据底座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77240" y="5989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7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数据智能运维团队　·　2026 年 8 月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052560" y="5989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7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MVP 汇报版 v1.0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DB Copilot · 项目汇报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6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AGENDA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585216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D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汇报框架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2679192" cy="3566160"/>
          </a:xfrm>
          <a:prstGeom prst="roundRect">
            <a:avLst>
              <a:gd name="adj" fmla="val 2389"/>
            </a:avLst>
          </a:prstGeom>
          <a:solidFill>
            <a:srgbClr val="FFFFFF"/>
          </a:solidFill>
          <a:ln w="9525">
            <a:solidFill>
              <a:srgbClr val="D8E4F5"/>
            </a:solidFill>
            <a:prstDash val="solid"/>
          </a:ln>
          <a:effectLst>
            <a:outerShdw sx="100000" sy="100000" kx="0" ky="0" algn="bl" rotWithShape="0" blurRad="63500" dist="25400" dir="5400000">
              <a:srgbClr val="1D2B45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58952" y="2148840"/>
            <a:ext cx="512064" cy="512064"/>
          </a:xfrm>
          <a:prstGeom prst="ellipse">
            <a:avLst/>
          </a:prstGeom>
          <a:solidFill>
            <a:srgbClr val="0052D9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847" y="2271735"/>
            <a:ext cx="266273" cy="26627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331720" y="2121408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8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758952" y="2971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目标与范围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58952" y="3456432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最终形态与建设目标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MVP 边界与北极星场景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364992" y="1828800"/>
            <a:ext cx="2679192" cy="3566160"/>
          </a:xfrm>
          <a:prstGeom prst="roundRect">
            <a:avLst>
              <a:gd name="adj" fmla="val 2389"/>
            </a:avLst>
          </a:prstGeom>
          <a:solidFill>
            <a:srgbClr val="FFFFFF"/>
          </a:solidFill>
          <a:ln w="9525">
            <a:solidFill>
              <a:srgbClr val="D8E4F5"/>
            </a:solidFill>
            <a:prstDash val="solid"/>
          </a:ln>
          <a:effectLst>
            <a:outerShdw sx="100000" sy="100000" kx="0" ky="0" algn="bl" rotWithShape="0" blurRad="63500" dist="25400" dir="5400000">
              <a:srgbClr val="1D2B45">
                <a:alpha val="7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621024" y="2148840"/>
            <a:ext cx="512064" cy="512064"/>
          </a:xfrm>
          <a:prstGeom prst="ellipse">
            <a:avLst/>
          </a:prstGeom>
          <a:solidFill>
            <a:srgbClr val="0052D9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3919" y="2271735"/>
            <a:ext cx="266273" cy="26627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193792" y="2121408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8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6" name="Text 12"/>
          <p:cNvSpPr/>
          <p:nvPr/>
        </p:nvSpPr>
        <p:spPr>
          <a:xfrm>
            <a:off x="3621024" y="2971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总体架构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3621024" y="3456432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分层架构与技术选型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核心流程时序与数据流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227064" y="1828800"/>
            <a:ext cx="2679192" cy="3566160"/>
          </a:xfrm>
          <a:prstGeom prst="roundRect">
            <a:avLst>
              <a:gd name="adj" fmla="val 2389"/>
            </a:avLst>
          </a:prstGeom>
          <a:solidFill>
            <a:srgbClr val="FFFFFF"/>
          </a:solidFill>
          <a:ln w="9525">
            <a:solidFill>
              <a:srgbClr val="D8E4F5"/>
            </a:solidFill>
            <a:prstDash val="solid"/>
          </a:ln>
          <a:effectLst>
            <a:outerShdw sx="100000" sy="100000" kx="0" ky="0" algn="bl" rotWithShape="0" blurRad="63500" dist="25400" dir="5400000">
              <a:srgbClr val="1D2B45">
                <a:alpha val="7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483096" y="2148840"/>
            <a:ext cx="512064" cy="512064"/>
          </a:xfrm>
          <a:prstGeom prst="ellipse">
            <a:avLst/>
          </a:prstGeom>
          <a:solidFill>
            <a:srgbClr val="0052D9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5991" y="2271735"/>
            <a:ext cx="266273" cy="26627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055864" y="2121408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8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22" name="Text 17"/>
          <p:cNvSpPr/>
          <p:nvPr/>
        </p:nvSpPr>
        <p:spPr>
          <a:xfrm>
            <a:off x="6483096" y="2971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关键模块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6483096" y="3456432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执行框架 / 异步任务闭环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工具注册表 / 卡片协议 / 前端进展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9089136" y="1828800"/>
            <a:ext cx="2679192" cy="3566160"/>
          </a:xfrm>
          <a:prstGeom prst="roundRect">
            <a:avLst>
              <a:gd name="adj" fmla="val 2389"/>
            </a:avLst>
          </a:prstGeom>
          <a:solidFill>
            <a:srgbClr val="FFFFFF"/>
          </a:solidFill>
          <a:ln w="9525">
            <a:solidFill>
              <a:srgbClr val="D8E4F5"/>
            </a:solidFill>
            <a:prstDash val="solid"/>
          </a:ln>
          <a:effectLst>
            <a:outerShdw sx="100000" sy="100000" kx="0" ky="0" algn="bl" rotWithShape="0" blurRad="63500" dist="25400" dir="5400000">
              <a:srgbClr val="1D2B45">
                <a:alpha val="7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9345168" y="2148840"/>
            <a:ext cx="512064" cy="512064"/>
          </a:xfrm>
          <a:prstGeom prst="ellipse">
            <a:avLst/>
          </a:prstGeom>
          <a:solidFill>
            <a:srgbClr val="FF9500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8063" y="2271735"/>
            <a:ext cx="266273" cy="266273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0917936" y="2121408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8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28" name="Text 22"/>
          <p:cNvSpPr/>
          <p:nvPr/>
        </p:nvSpPr>
        <p:spPr>
          <a:xfrm>
            <a:off x="9345168" y="2971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分工与验收</a:t>
            </a:r>
            <a:endParaRPr lang="en-US" sz="1700" dirty="0"/>
          </a:p>
        </p:txBody>
      </p:sp>
      <p:sp>
        <p:nvSpPr>
          <p:cNvPr id="29" name="Text 23"/>
          <p:cNvSpPr/>
          <p:nvPr/>
        </p:nvSpPr>
        <p:spPr>
          <a:xfrm>
            <a:off x="9345168" y="3456432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三个任务系列与排期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契约优先验收机制与风险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502920" y="580644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7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本页为全局导航：四部分依次对应「为什么做 → 怎么设计 → 关键如何实现 → 谁来做如何验收」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DB Copilot · 项目汇报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6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· 目标与范围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585216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D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背景与痛点：存量割裂，能力待统一收口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572768"/>
            <a:ext cx="6537960" cy="1335024"/>
          </a:xfrm>
          <a:prstGeom prst="roundRect">
            <a:avLst>
              <a:gd name="adj" fmla="val 4795"/>
            </a:avLst>
          </a:prstGeom>
          <a:solidFill>
            <a:srgbClr val="FFFFFF"/>
          </a:solidFill>
          <a:ln w="9525">
            <a:solidFill>
              <a:srgbClr val="D8E4F5"/>
            </a:solidFill>
            <a:prstDash val="solid"/>
          </a:ln>
          <a:effectLst>
            <a:outerShdw sx="100000" sy="100000" kx="0" ky="0" algn="bl" rotWithShape="0" blurRad="63500" dist="25400" dir="5400000">
              <a:srgbClr val="1D2B45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956816"/>
            <a:ext cx="548640" cy="548640"/>
          </a:xfrm>
          <a:prstGeom prst="ellipse">
            <a:avLst/>
          </a:prstGeom>
          <a:solidFill>
            <a:srgbClr val="FFECE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2088490"/>
            <a:ext cx="285293" cy="285293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" y="1956816"/>
            <a:ext cx="548640" cy="548640"/>
          </a:xfrm>
          <a:prstGeom prst="ellipse">
            <a:avLst/>
          </a:prstGeom>
          <a:solidFill>
            <a:srgbClr val="F53F3F"/>
          </a:solidFill>
          <a:ln/>
        </p:spPr>
      </p:sp>
      <p:sp>
        <p:nvSpPr>
          <p:cNvPr id="10" name="Text 7"/>
          <p:cNvSpPr/>
          <p:nvPr/>
        </p:nvSpPr>
        <p:spPr>
          <a:xfrm>
            <a:off x="1554480" y="1773936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存量系统各自割裂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1554480" y="2139696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告警系统、工单系统、DBaaS 平台独立建设，入口分散、体验不一，排障需在多系统间来回切换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02920" y="3054096"/>
            <a:ext cx="6537960" cy="1335024"/>
          </a:xfrm>
          <a:prstGeom prst="roundRect">
            <a:avLst>
              <a:gd name="adj" fmla="val 4795"/>
            </a:avLst>
          </a:prstGeom>
          <a:solidFill>
            <a:srgbClr val="FFFFFF"/>
          </a:solidFill>
          <a:ln w="9525">
            <a:solidFill>
              <a:srgbClr val="D8E4F5"/>
            </a:solidFill>
            <a:prstDash val="solid"/>
          </a:ln>
          <a:effectLst>
            <a:outerShdw sx="100000" sy="100000" kx="0" ky="0" algn="bl" rotWithShape="0" blurRad="63500" dist="25400" dir="5400000">
              <a:srgbClr val="1D2B45">
                <a:alpha val="7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77240" y="3438144"/>
            <a:ext cx="548640" cy="548640"/>
          </a:xfrm>
          <a:prstGeom prst="ellipse">
            <a:avLst/>
          </a:prstGeom>
          <a:solidFill>
            <a:srgbClr val="FFF4E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914" y="3569818"/>
            <a:ext cx="285293" cy="285293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777240" y="3438144"/>
            <a:ext cx="548640" cy="5486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6" name="Text 12"/>
          <p:cNvSpPr/>
          <p:nvPr/>
        </p:nvSpPr>
        <p:spPr>
          <a:xfrm>
            <a:off x="1554480" y="3255264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外采诊断能力受限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1554480" y="3621024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已外采诊断 Agent 覆盖大部分国产数据库，API 可编程；但自带界面不满足需求，难以融入统一平台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502920" y="4535424"/>
            <a:ext cx="6537960" cy="1335024"/>
          </a:xfrm>
          <a:prstGeom prst="roundRect">
            <a:avLst>
              <a:gd name="adj" fmla="val 4795"/>
            </a:avLst>
          </a:prstGeom>
          <a:solidFill>
            <a:srgbClr val="FFFFFF"/>
          </a:solidFill>
          <a:ln w="9525">
            <a:solidFill>
              <a:srgbClr val="D8E4F5"/>
            </a:solidFill>
            <a:prstDash val="solid"/>
          </a:ln>
          <a:effectLst>
            <a:outerShdw sx="100000" sy="100000" kx="0" ky="0" algn="bl" rotWithShape="0" blurRad="63500" dist="25400" dir="5400000">
              <a:srgbClr val="1D2B45">
                <a:alpha val="7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77240" y="4919472"/>
            <a:ext cx="548640" cy="548640"/>
          </a:xfrm>
          <a:prstGeom prst="ellipse">
            <a:avLst/>
          </a:prstGeom>
          <a:solidFill>
            <a:srgbClr val="E8F2FF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914" y="5051146"/>
            <a:ext cx="285293" cy="285293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777240" y="4919472"/>
            <a:ext cx="548640" cy="548640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22" name="Text 17"/>
          <p:cNvSpPr/>
          <p:nvPr/>
        </p:nvSpPr>
        <p:spPr>
          <a:xfrm>
            <a:off x="1554480" y="473659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数据体系与 API 风格不一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1554480" y="5102352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指标、元数据、告警的数据模型与接口风格各异，新能力建设反复适配、重复投入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7315200" y="1572768"/>
            <a:ext cx="4370832" cy="4443984"/>
          </a:xfrm>
          <a:prstGeom prst="roundRect">
            <a:avLst>
              <a:gd name="adj" fmla="val 1464"/>
            </a:avLst>
          </a:prstGeom>
          <a:solidFill>
            <a:srgbClr val="F4F8FF"/>
          </a:solidFill>
          <a:ln w="9525">
            <a:solidFill>
              <a:srgbClr val="D8E4F5"/>
            </a:solidFill>
            <a:prstDash val="solid"/>
          </a:ln>
          <a:effectLst>
            <a:outerShdw sx="100000" sy="100000" kx="0" ky="0" algn="bl" rotWithShape="0" blurRad="63500" dist="25400" dir="5400000">
              <a:srgbClr val="1D2B45">
                <a:alpha val="7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7589520" y="1828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建设契机 · 渐进替换策略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7589520" y="221284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Strangler Fig：新建统一平台，旧系统经防腐层集成、按模块分批吸收，最终按节奏下线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7635240" y="2971800"/>
            <a:ext cx="132588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D8E4F5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7635240" y="2971800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告警系统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7635240" y="3538728"/>
            <a:ext cx="132588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D8E4F5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7635240" y="3538728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DBaaS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7635240" y="4105656"/>
            <a:ext cx="132588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D8E4F5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7635240" y="4105656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工单系统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9098280" y="3840480"/>
            <a:ext cx="548640" cy="0"/>
          </a:xfrm>
          <a:prstGeom prst="line">
            <a:avLst/>
          </a:prstGeom>
          <a:noFill/>
          <a:ln w="20320">
            <a:solidFill>
              <a:srgbClr val="0052D9"/>
            </a:solidFill>
            <a:prstDash val="solid"/>
            <a:headEnd type="none"/>
            <a:tailEnd type="triangle"/>
          </a:ln>
        </p:spPr>
      </p:sp>
      <p:sp>
        <p:nvSpPr>
          <p:cNvPr id="34" name="Shape 29"/>
          <p:cNvSpPr/>
          <p:nvPr/>
        </p:nvSpPr>
        <p:spPr>
          <a:xfrm>
            <a:off x="9738360" y="324612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0052D9"/>
          </a:solidFill>
          <a:ln/>
        </p:spPr>
      </p:sp>
      <p:sp>
        <p:nvSpPr>
          <p:cNvPr id="35" name="Text 30"/>
          <p:cNvSpPr/>
          <p:nvPr/>
        </p:nvSpPr>
        <p:spPr>
          <a:xfrm>
            <a:off x="9738360" y="324612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DB Copilot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统一平台</a:t>
            </a:r>
            <a:endParaRPr lang="en-US" sz="1200" dirty="0"/>
          </a:p>
        </p:txBody>
      </p:sp>
      <p:sp>
        <p:nvSpPr>
          <p:cNvPr id="36" name="Text 31"/>
          <p:cNvSpPr/>
          <p:nvPr/>
        </p:nvSpPr>
        <p:spPr>
          <a:xfrm>
            <a:off x="7635240" y="48920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防腐层收口：旧系统变更只波及适配层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DB Copilot · 项目汇报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6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· 目标与范围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585216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D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建设目标与最终形态：双范式智能运维平台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五大建设目标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30352" y="1920240"/>
            <a:ext cx="365760" cy="365760"/>
          </a:xfrm>
          <a:prstGeom prst="ellipse">
            <a:avLst/>
          </a:prstGeom>
          <a:solidFill>
            <a:srgbClr val="E8F2FF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52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60704" y="18745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综合型智能运维平台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60704" y="21671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7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覆盖多种数据库类型的统一入口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0352" y="2761488"/>
            <a:ext cx="365760" cy="365760"/>
          </a:xfrm>
          <a:prstGeom prst="ellipse">
            <a:avLst/>
          </a:prstGeom>
          <a:solidFill>
            <a:srgbClr val="E8F2FF"/>
          </a:solidFill>
          <a:ln/>
        </p:spPr>
      </p:sp>
      <p:sp>
        <p:nvSpPr>
          <p:cNvPr id="12" name="Text 10"/>
          <p:cNvSpPr/>
          <p:nvPr/>
        </p:nvSpPr>
        <p:spPr>
          <a:xfrm>
            <a:off x="530352" y="2761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52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60704" y="271576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保留并重构传统能力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60704" y="300837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7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概览 / 集群 / 监控大盘 / 实例详情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0352" y="3602736"/>
            <a:ext cx="365760" cy="365760"/>
          </a:xfrm>
          <a:prstGeom prst="ellipse">
            <a:avLst/>
          </a:prstGeom>
          <a:solidFill>
            <a:srgbClr val="E8F2FF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602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52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60704" y="355701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重点建设下钻分析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60704" y="384962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7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概览→集群→实例→会话/慢SQL/锁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30352" y="4443984"/>
            <a:ext cx="365760" cy="365760"/>
          </a:xfrm>
          <a:prstGeom prst="ellipse">
            <a:avLst/>
          </a:prstGeom>
          <a:solidFill>
            <a:srgbClr val="E8F2FF"/>
          </a:solidFill>
          <a:ln/>
        </p:spPr>
      </p:sp>
      <p:sp>
        <p:nvSpPr>
          <p:cNvPr id="20" name="Text 18"/>
          <p:cNvSpPr/>
          <p:nvPr/>
        </p:nvSpPr>
        <p:spPr>
          <a:xfrm>
            <a:off x="530352" y="44439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52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60704" y="439826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对话式智能运维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060704" y="469087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7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多 Agent：诊断 / 问数 / 知识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30352" y="5285232"/>
            <a:ext cx="365760" cy="365760"/>
          </a:xfrm>
          <a:prstGeom prst="ellipse">
            <a:avLst/>
          </a:prstGeom>
          <a:solidFill>
            <a:srgbClr val="E8F2FF"/>
          </a:solidFill>
          <a:ln/>
        </p:spPr>
      </p:sp>
      <p:sp>
        <p:nvSpPr>
          <p:cNvPr id="24" name="Text 22"/>
          <p:cNvSpPr/>
          <p:nvPr/>
        </p:nvSpPr>
        <p:spPr>
          <a:xfrm>
            <a:off x="530352" y="5285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52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60704" y="523951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兼容旧体系渐进替换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060704" y="55321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7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适配旧数据体系与 API，支持分批吸收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577840" y="1481328"/>
            <a:ext cx="6108192" cy="237744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9525">
            <a:solidFill>
              <a:srgbClr val="D8E4F5"/>
            </a:solidFill>
            <a:prstDash val="solid"/>
          </a:ln>
          <a:effectLst>
            <a:outerShdw sx="100000" sy="100000" kx="0" ky="0" algn="bl" rotWithShape="0" blurRad="63500" dist="25400" dir="5400000">
              <a:srgbClr val="1D2B45">
                <a:alpha val="7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852160" y="168249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双范式并列 · 双向流转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852160" y="2103120"/>
            <a:ext cx="2697480" cy="1481328"/>
          </a:xfrm>
          <a:prstGeom prst="roundRect">
            <a:avLst>
              <a:gd name="adj" fmla="val 4938"/>
            </a:avLst>
          </a:prstGeom>
          <a:solidFill>
            <a:srgbClr val="F4F8FF"/>
          </a:solidFill>
          <a:ln w="9525">
            <a:solidFill>
              <a:srgbClr val="D8E4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53328" y="2304288"/>
            <a:ext cx="420624" cy="420624"/>
          </a:xfrm>
          <a:prstGeom prst="ellipse">
            <a:avLst/>
          </a:prstGeom>
          <a:solidFill>
            <a:srgbClr val="0052D9"/>
          </a:solidFill>
          <a:ln/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54278" y="2405238"/>
            <a:ext cx="218724" cy="218724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6601968" y="234086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浏览式</a:t>
            </a:r>
            <a:endParaRPr lang="en-US" sz="1350" dirty="0"/>
          </a:p>
        </p:txBody>
      </p:sp>
      <p:sp>
        <p:nvSpPr>
          <p:cNvPr id="33" name="Text 30"/>
          <p:cNvSpPr/>
          <p:nvPr/>
        </p:nvSpPr>
        <p:spPr>
          <a:xfrm>
            <a:off x="6071616" y="281635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监控大盘（Grafana 式编辑器）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集群 / 实例详情 · 下钻导航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8796528" y="2103120"/>
            <a:ext cx="2697480" cy="1481328"/>
          </a:xfrm>
          <a:prstGeom prst="roundRect">
            <a:avLst>
              <a:gd name="adj" fmla="val 4938"/>
            </a:avLst>
          </a:prstGeom>
          <a:solidFill>
            <a:srgbClr val="F4F8FF"/>
          </a:solidFill>
          <a:ln w="9525">
            <a:solidFill>
              <a:srgbClr val="D8E4F5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997696" y="2304288"/>
            <a:ext cx="420624" cy="420624"/>
          </a:xfrm>
          <a:prstGeom prst="ellipse">
            <a:avLst/>
          </a:prstGeom>
          <a:solidFill>
            <a:srgbClr val="0052D9"/>
          </a:solidFill>
          <a:ln/>
        </p:spPr>
      </p:sp>
      <p:pic>
        <p:nvPicPr>
          <p:cNvPr id="3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646" y="2405238"/>
            <a:ext cx="218724" cy="218724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9546336" y="234086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对话式</a:t>
            </a:r>
            <a:endParaRPr lang="en-US" sz="1350" dirty="0"/>
          </a:p>
        </p:txBody>
      </p:sp>
      <p:sp>
        <p:nvSpPr>
          <p:cNvPr id="38" name="Text 34"/>
          <p:cNvSpPr/>
          <p:nvPr/>
        </p:nvSpPr>
        <p:spPr>
          <a:xfrm>
            <a:off x="9015984" y="281635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Copilot 智能对话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输出结构化卡片渲染</a:t>
            </a:r>
            <a:endParaRPr lang="en-US" sz="1000" dirty="0"/>
          </a:p>
        </p:txBody>
      </p:sp>
      <p:sp>
        <p:nvSpPr>
          <p:cNvPr id="39" name="Shape 35"/>
          <p:cNvSpPr/>
          <p:nvPr/>
        </p:nvSpPr>
        <p:spPr>
          <a:xfrm>
            <a:off x="8595360" y="2834640"/>
            <a:ext cx="182880" cy="0"/>
          </a:xfrm>
          <a:prstGeom prst="line">
            <a:avLst/>
          </a:prstGeom>
          <a:noFill/>
          <a:ln w="17780">
            <a:solidFill>
              <a:srgbClr val="8A97AD"/>
            </a:solidFill>
            <a:prstDash val="solid"/>
            <a:headEnd type="none"/>
            <a:tailEnd type="triangle"/>
          </a:ln>
        </p:spPr>
      </p:sp>
      <p:sp>
        <p:nvSpPr>
          <p:cNvPr id="40" name="Shape 36"/>
          <p:cNvSpPr/>
          <p:nvPr/>
        </p:nvSpPr>
        <p:spPr>
          <a:xfrm>
            <a:off x="8778240" y="3127248"/>
            <a:ext cx="-182880" cy="0"/>
          </a:xfrm>
          <a:prstGeom prst="line">
            <a:avLst/>
          </a:prstGeom>
          <a:noFill/>
          <a:ln w="17780">
            <a:solidFill>
              <a:srgbClr val="8A97AD"/>
            </a:solidFill>
            <a:prstDash val="solid"/>
            <a:headEnd type="none"/>
            <a:tailEnd type="triangle"/>
          </a:ln>
        </p:spPr>
      </p:sp>
      <p:sp>
        <p:nvSpPr>
          <p:cNvPr id="41" name="Shape 37"/>
          <p:cNvSpPr/>
          <p:nvPr/>
        </p:nvSpPr>
        <p:spPr>
          <a:xfrm>
            <a:off x="5577840" y="4041648"/>
            <a:ext cx="6108192" cy="1975104"/>
          </a:xfrm>
          <a:prstGeom prst="roundRect">
            <a:avLst>
              <a:gd name="adj" fmla="val 3241"/>
            </a:avLst>
          </a:prstGeom>
          <a:solidFill>
            <a:srgbClr val="F4F8FF"/>
          </a:solidFill>
          <a:ln w="9525">
            <a:solidFill>
              <a:srgbClr val="D8E4F5"/>
            </a:solidFill>
            <a:prstDash val="solid"/>
          </a:ln>
          <a:effectLst>
            <a:outerShdw sx="100000" sy="100000" kx="0" ky="0" algn="bl" rotWithShape="0" blurRad="63500" dist="25400" dir="5400000">
              <a:srgbClr val="1D2B45">
                <a:alpha val="7000"/>
              </a:srgbClr>
            </a:outerShdw>
          </a:effectLst>
        </p:spPr>
      </p:sp>
      <p:sp>
        <p:nvSpPr>
          <p:cNvPr id="42" name="Text 38"/>
          <p:cNvSpPr/>
          <p:nvPr/>
        </p:nvSpPr>
        <p:spPr>
          <a:xfrm>
            <a:off x="5852160" y="422452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愿景能力（二期+ 设计占位已入架构）</a:t>
            </a:r>
            <a:endParaRPr lang="en-US" sz="1200" dirty="0"/>
          </a:p>
        </p:txBody>
      </p:sp>
      <p:sp>
        <p:nvSpPr>
          <p:cNvPr id="43" name="Shape 39"/>
          <p:cNvSpPr/>
          <p:nvPr/>
        </p:nvSpPr>
        <p:spPr>
          <a:xfrm>
            <a:off x="5852160" y="4617720"/>
            <a:ext cx="2889504" cy="365760"/>
          </a:xfrm>
          <a:prstGeom prst="roundRect">
            <a:avLst>
              <a:gd name="adj" fmla="val 50000"/>
            </a:avLst>
          </a:prstGeom>
          <a:solidFill>
            <a:srgbClr val="E8F2FF"/>
          </a:solidFill>
          <a:ln/>
        </p:spPr>
      </p:sp>
      <p:sp>
        <p:nvSpPr>
          <p:cNvPr id="44" name="Text 40"/>
          <p:cNvSpPr/>
          <p:nvPr/>
        </p:nvSpPr>
        <p:spPr>
          <a:xfrm>
            <a:off x="5852160" y="4604004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选中页面元素 · 直接智能诊断</a:t>
            </a:r>
            <a:endParaRPr lang="en-US" sz="1000" dirty="0"/>
          </a:p>
        </p:txBody>
      </p:sp>
      <p:sp>
        <p:nvSpPr>
          <p:cNvPr id="45" name="Shape 41"/>
          <p:cNvSpPr/>
          <p:nvPr/>
        </p:nvSpPr>
        <p:spPr>
          <a:xfrm>
            <a:off x="5852160" y="5093208"/>
            <a:ext cx="3072384" cy="365760"/>
          </a:xfrm>
          <a:prstGeom prst="roundRect">
            <a:avLst>
              <a:gd name="adj" fmla="val 50000"/>
            </a:avLst>
          </a:prstGeom>
          <a:solidFill>
            <a:srgbClr val="E8F2FF"/>
          </a:solidFill>
          <a:ln/>
        </p:spPr>
      </p:sp>
      <p:sp>
        <p:nvSpPr>
          <p:cNvPr id="46" name="Text 42"/>
          <p:cNvSpPr/>
          <p:nvPr/>
        </p:nvSpPr>
        <p:spPr>
          <a:xfrm>
            <a:off x="5852160" y="5079492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平台说明书知识库 · 回答附跳转 URL</a:t>
            </a:r>
            <a:endParaRPr lang="en-US" sz="1000" dirty="0"/>
          </a:p>
        </p:txBody>
      </p:sp>
      <p:sp>
        <p:nvSpPr>
          <p:cNvPr id="47" name="Shape 43"/>
          <p:cNvSpPr/>
          <p:nvPr/>
        </p:nvSpPr>
        <p:spPr>
          <a:xfrm>
            <a:off x="5852160" y="5568696"/>
            <a:ext cx="3072384" cy="365760"/>
          </a:xfrm>
          <a:prstGeom prst="roundRect">
            <a:avLst>
              <a:gd name="adj" fmla="val 50000"/>
            </a:avLst>
          </a:prstGeom>
          <a:solidFill>
            <a:srgbClr val="E8F2FF"/>
          </a:solidFill>
          <a:ln/>
        </p:spPr>
      </p:sp>
      <p:sp>
        <p:nvSpPr>
          <p:cNvPr id="48" name="Text 44"/>
          <p:cNvSpPr/>
          <p:nvPr/>
        </p:nvSpPr>
        <p:spPr>
          <a:xfrm>
            <a:off x="5852160" y="5554980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自治服务中心 · 任务+建议+手动触发</a:t>
            </a:r>
            <a:endParaRPr lang="en-US" sz="1000" dirty="0"/>
          </a:p>
        </p:txBody>
      </p:sp>
      <p:sp>
        <p:nvSpPr>
          <p:cNvPr id="49" name="Shape 45"/>
          <p:cNvSpPr/>
          <p:nvPr/>
        </p:nvSpPr>
        <p:spPr>
          <a:xfrm>
            <a:off x="9089136" y="5568696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E8F2FF"/>
          </a:solidFill>
          <a:ln/>
        </p:spPr>
      </p:sp>
      <p:sp>
        <p:nvSpPr>
          <p:cNvPr id="50" name="Text 46"/>
          <p:cNvSpPr/>
          <p:nvPr/>
        </p:nvSpPr>
        <p:spPr>
          <a:xfrm>
            <a:off x="9089136" y="55549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⌘K 全局自然语言导航</a:t>
            </a:r>
            <a:endParaRPr lang="en-US" sz="1000" dirty="0"/>
          </a:p>
        </p:txBody>
      </p:sp>
      <p:sp>
        <p:nvSpPr>
          <p:cNvPr id="51" name="Shape 47"/>
          <p:cNvSpPr/>
          <p:nvPr/>
        </p:nvSpPr>
        <p:spPr>
          <a:xfrm>
            <a:off x="5852160" y="5596128"/>
            <a:ext cx="5559552" cy="365760"/>
          </a:xfrm>
          <a:prstGeom prst="roundRect">
            <a:avLst>
              <a:gd name="adj" fmla="val 50000"/>
            </a:avLst>
          </a:prstGeom>
          <a:solidFill>
            <a:srgbClr val="FFF4E5"/>
          </a:solidFill>
          <a:ln/>
        </p:spPr>
      </p:sp>
      <p:sp>
        <p:nvSpPr>
          <p:cNvPr id="52" name="Text 48"/>
          <p:cNvSpPr/>
          <p:nvPr/>
        </p:nvSpPr>
        <p:spPr>
          <a:xfrm>
            <a:off x="5852160" y="5582412"/>
            <a:ext cx="5559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46B0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一期北极星功能：数据库实例智能诊断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DB Copilot · 项目汇报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6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· 目标与范围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585216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D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MVP 范围：3 个月 · 3 人 · 真实数据接入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11183112" cy="713232"/>
          </a:xfrm>
          <a:prstGeom prst="roundRect">
            <a:avLst>
              <a:gd name="adj" fmla="val 8974"/>
            </a:avLst>
          </a:prstGeom>
          <a:solidFill>
            <a:srgbClr val="E8F2FF"/>
          </a:solidFill>
          <a:ln w="9525">
            <a:solidFill>
              <a:srgbClr val="D8E4F5"/>
            </a:solidFill>
            <a:prstDash val="solid"/>
          </a:ln>
          <a:effectLst>
            <a:outerShdw sx="100000" sy="100000" kx="0" ky="0" algn="bl" rotWithShape="0" blurRad="63500" dist="25400" dir="5400000">
              <a:srgbClr val="1D2B45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618488"/>
            <a:ext cx="402336" cy="402336"/>
          </a:xfrm>
          <a:prstGeom prst="ellipse">
            <a:avLst/>
          </a:prstGeom>
          <a:solidFill>
            <a:srgbClr val="0052D9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6369" y="1715049"/>
            <a:ext cx="209215" cy="20921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98448" y="1463040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一句话目标：</a:t>
            </a:r>
            <a:pPr indent="0" marL="0">
              <a:buNone/>
            </a:pPr>
            <a:r>
              <a:rPr lang="en-US" sz="125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以真实数据跑通五项架构核心假设 —— 统一查询协议 · 多 Agent 编排 · 卡片协议 · 异步任务闭环 · 防腐层集成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02920" y="2395728"/>
            <a:ext cx="5486400" cy="2798064"/>
          </a:xfrm>
          <a:prstGeom prst="roundRect">
            <a:avLst>
              <a:gd name="adj" fmla="val 2288"/>
            </a:avLst>
          </a:prstGeom>
          <a:solidFill>
            <a:srgbClr val="FFFFFF"/>
          </a:solidFill>
          <a:ln w="9525">
            <a:solidFill>
              <a:srgbClr val="D8E4F5"/>
            </a:solidFill>
            <a:prstDash val="solid"/>
          </a:ln>
          <a:effectLst>
            <a:outerShdw sx="100000" sy="100000" kx="0" ky="0" algn="bl" rotWithShape="0" blurRad="63500" dist="25400" dir="5400000">
              <a:srgbClr val="1D2B45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77240" y="2615184"/>
            <a:ext cx="384048" cy="384048"/>
          </a:xfrm>
          <a:prstGeom prst="ellipse">
            <a:avLst/>
          </a:prstGeom>
          <a:solidFill>
            <a:srgbClr val="00B365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412" y="2707356"/>
            <a:ext cx="199705" cy="19970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98448" y="2651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MVP 交付（做）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822960" y="3127248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2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监控大盘：完整编辑器复刻（多大盘 / 双 Y 轴 / 阈值 / 事件标注）</a:t>
            </a:r>
            <a:endParaRPr lang="en-US" sz="1100" dirty="0"/>
          </a:p>
          <a:p>
            <a:pPr marL="127000" indent="-127000">
              <a:lnSpc>
                <a:spcPct val="112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智能对话：多会话 + 流式 + 5 种结构化卡片</a:t>
            </a:r>
            <a:endParaRPr lang="en-US" sz="1100" dirty="0"/>
          </a:p>
          <a:p>
            <a:pPr marL="127000" indent="-127000">
              <a:lnSpc>
                <a:spcPct val="112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诊断：LangGraph ReAct + 8 个自建工具</a:t>
            </a:r>
            <a:endParaRPr lang="en-US" sz="1100" dirty="0"/>
          </a:p>
          <a:p>
            <a:pPr marL="127000" indent="-127000">
              <a:lnSpc>
                <a:spcPct val="112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问数：四类白名单 NL2Metric</a:t>
            </a:r>
            <a:endParaRPr lang="en-US" sz="1100" dirty="0"/>
          </a:p>
          <a:p>
            <a:pPr marL="127000" indent="-127000">
              <a:lnSpc>
                <a:spcPct val="112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真实接入：公司 AI 平台 / 旧监控 / DBaaS / 告警</a:t>
            </a:r>
            <a:endParaRPr lang="en-US" sz="1100" dirty="0"/>
          </a:p>
          <a:p>
            <a:pPr marL="127000" indent="-127000">
              <a:lnSpc>
                <a:spcPct val="112000"/>
              </a:lnSpc>
              <a:buSzPct val="100000"/>
              <a:buChar char="▪"/>
            </a:pPr>
            <a:r>
              <a:rPr lang="en-US" sz="11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外采诊断：适配器规范就绪，契约到手即接入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199632" y="2395728"/>
            <a:ext cx="5486400" cy="2798064"/>
          </a:xfrm>
          <a:prstGeom prst="roundRect">
            <a:avLst>
              <a:gd name="adj" fmla="val 2288"/>
            </a:avLst>
          </a:prstGeom>
          <a:solidFill>
            <a:srgbClr val="FFFFFF"/>
          </a:solidFill>
          <a:ln w="9525">
            <a:solidFill>
              <a:srgbClr val="D8E4F5"/>
            </a:solidFill>
            <a:prstDash val="solid"/>
          </a:ln>
          <a:effectLst>
            <a:outerShdw sx="100000" sy="100000" kx="0" ky="0" algn="bl" rotWithShape="0" blurRad="63500" dist="25400" dir="5400000">
              <a:srgbClr val="1D2B45">
                <a:alpha val="7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73952" y="2615184"/>
            <a:ext cx="384048" cy="384048"/>
          </a:xfrm>
          <a:prstGeom prst="ellipse">
            <a:avLst/>
          </a:prstGeom>
          <a:solidFill>
            <a:srgbClr val="8A97AD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6124" y="2707356"/>
            <a:ext cx="199705" cy="19970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995160" y="26517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明确不做（防范围蔓延）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519672" y="3127248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2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鉴权 / SSO（权限桩，二期接 RBAC）</a:t>
            </a:r>
            <a:endParaRPr lang="en-US" sz="1100" dirty="0"/>
          </a:p>
          <a:p>
            <a:pPr marL="127000" indent="-127000">
              <a:lnSpc>
                <a:spcPct val="112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页面上下文注入 · 元素选中诊断（二期）</a:t>
            </a:r>
            <a:endParaRPr lang="en-US" sz="1100" dirty="0"/>
          </a:p>
          <a:p>
            <a:pPr marL="127000" indent="-127000">
              <a:lnSpc>
                <a:spcPct val="112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自治服务页 · 知识库问答（二期）</a:t>
            </a:r>
            <a:endParaRPr lang="en-US" sz="1100" dirty="0"/>
          </a:p>
          <a:p>
            <a:pPr marL="127000" indent="-127000">
              <a:lnSpc>
                <a:spcPct val="112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 / L2 动作执行（Agent 只读提议）</a:t>
            </a:r>
            <a:endParaRPr lang="en-US" sz="1100" dirty="0"/>
          </a:p>
          <a:p>
            <a:pPr marL="127000" indent="-127000">
              <a:lnSpc>
                <a:spcPct val="112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Redis / 消息队列 / 对象存储（PG 单库）</a:t>
            </a:r>
            <a:endParaRPr lang="en-US" sz="1100" dirty="0"/>
          </a:p>
          <a:p>
            <a:pPr marL="127000" indent="-127000">
              <a:lnSpc>
                <a:spcPct val="112000"/>
              </a:lnSpc>
              <a:buSzPct val="100000"/>
              <a:buChar char="▪"/>
            </a:pPr>
            <a:r>
              <a:rPr lang="en-US" sz="11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/ CLI / Skills 插件生态（二期+）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502920" y="54132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北极星验收场景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2514600" y="5358384"/>
            <a:ext cx="1298448" cy="365760"/>
          </a:xfrm>
          <a:prstGeom prst="roundRect">
            <a:avLst>
              <a:gd name="adj" fmla="val 50000"/>
            </a:avLst>
          </a:prstGeom>
          <a:solidFill>
            <a:srgbClr val="E8F2FF"/>
          </a:solidFill>
          <a:ln/>
        </p:spPr>
      </p:sp>
      <p:sp>
        <p:nvSpPr>
          <p:cNvPr id="22" name="Text 17"/>
          <p:cNvSpPr/>
          <p:nvPr/>
        </p:nvSpPr>
        <p:spPr>
          <a:xfrm>
            <a:off x="2514600" y="5344668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实例变慢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3831336" y="5541264"/>
            <a:ext cx="201168" cy="0"/>
          </a:xfrm>
          <a:prstGeom prst="line">
            <a:avLst/>
          </a:prstGeom>
          <a:noFill/>
          <a:ln w="13970">
            <a:solidFill>
              <a:srgbClr val="8A97AD"/>
            </a:solidFill>
            <a:prstDash val="solid"/>
            <a:headEnd type="none"/>
            <a:tailEnd type="triangle"/>
          </a:ln>
        </p:spPr>
      </p:sp>
      <p:sp>
        <p:nvSpPr>
          <p:cNvPr id="24" name="Shape 19"/>
          <p:cNvSpPr/>
          <p:nvPr/>
        </p:nvSpPr>
        <p:spPr>
          <a:xfrm>
            <a:off x="4069080" y="5358384"/>
            <a:ext cx="1298448" cy="365760"/>
          </a:xfrm>
          <a:prstGeom prst="roundRect">
            <a:avLst>
              <a:gd name="adj" fmla="val 50000"/>
            </a:avLst>
          </a:prstGeom>
          <a:solidFill>
            <a:srgbClr val="E8F2FF"/>
          </a:solidFill>
          <a:ln/>
        </p:spPr>
      </p:sp>
      <p:sp>
        <p:nvSpPr>
          <p:cNvPr id="25" name="Text 20"/>
          <p:cNvSpPr/>
          <p:nvPr/>
        </p:nvSpPr>
        <p:spPr>
          <a:xfrm>
            <a:off x="4069080" y="5344668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大盘发现异常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5385816" y="5541264"/>
            <a:ext cx="201168" cy="0"/>
          </a:xfrm>
          <a:prstGeom prst="line">
            <a:avLst/>
          </a:prstGeom>
          <a:noFill/>
          <a:ln w="13970">
            <a:solidFill>
              <a:srgbClr val="8A97AD"/>
            </a:solidFill>
            <a:prstDash val="solid"/>
            <a:headEnd type="none"/>
            <a:tailEnd type="triangle"/>
          </a:ln>
        </p:spPr>
      </p:sp>
      <p:sp>
        <p:nvSpPr>
          <p:cNvPr id="27" name="Shape 22"/>
          <p:cNvSpPr/>
          <p:nvPr/>
        </p:nvSpPr>
        <p:spPr>
          <a:xfrm>
            <a:off x="5623560" y="5358384"/>
            <a:ext cx="1298448" cy="365760"/>
          </a:xfrm>
          <a:prstGeom prst="roundRect">
            <a:avLst>
              <a:gd name="adj" fmla="val 50000"/>
            </a:avLst>
          </a:prstGeom>
          <a:solidFill>
            <a:srgbClr val="E8F2FF"/>
          </a:solidFill>
          <a:ln/>
        </p:spPr>
      </p:sp>
      <p:sp>
        <p:nvSpPr>
          <p:cNvPr id="28" name="Text 23"/>
          <p:cNvSpPr/>
          <p:nvPr/>
        </p:nvSpPr>
        <p:spPr>
          <a:xfrm>
            <a:off x="5623560" y="5344668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chat 发起诊断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6940296" y="5541264"/>
            <a:ext cx="201168" cy="0"/>
          </a:xfrm>
          <a:prstGeom prst="line">
            <a:avLst/>
          </a:prstGeom>
          <a:noFill/>
          <a:ln w="13970">
            <a:solidFill>
              <a:srgbClr val="8A97AD"/>
            </a:solidFill>
            <a:prstDash val="solid"/>
            <a:headEnd type="none"/>
            <a:tailEnd type="triangle"/>
          </a:ln>
        </p:spPr>
      </p:sp>
      <p:sp>
        <p:nvSpPr>
          <p:cNvPr id="30" name="Shape 25"/>
          <p:cNvSpPr/>
          <p:nvPr/>
        </p:nvSpPr>
        <p:spPr>
          <a:xfrm>
            <a:off x="7178040" y="5358384"/>
            <a:ext cx="1298448" cy="365760"/>
          </a:xfrm>
          <a:prstGeom prst="roundRect">
            <a:avLst>
              <a:gd name="adj" fmla="val 50000"/>
            </a:avLst>
          </a:prstGeom>
          <a:solidFill>
            <a:srgbClr val="E8F2FF"/>
          </a:solidFill>
          <a:ln/>
        </p:spPr>
      </p:sp>
      <p:sp>
        <p:nvSpPr>
          <p:cNvPr id="31" name="Text 26"/>
          <p:cNvSpPr/>
          <p:nvPr/>
        </p:nvSpPr>
        <p:spPr>
          <a:xfrm>
            <a:off x="7178040" y="5344668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真实证据采集</a:t>
            </a:r>
            <a:endParaRPr lang="en-US" sz="950" dirty="0"/>
          </a:p>
        </p:txBody>
      </p:sp>
      <p:sp>
        <p:nvSpPr>
          <p:cNvPr id="32" name="Shape 27"/>
          <p:cNvSpPr/>
          <p:nvPr/>
        </p:nvSpPr>
        <p:spPr>
          <a:xfrm>
            <a:off x="8494776" y="5541264"/>
            <a:ext cx="201168" cy="0"/>
          </a:xfrm>
          <a:prstGeom prst="line">
            <a:avLst/>
          </a:prstGeom>
          <a:noFill/>
          <a:ln w="13970">
            <a:solidFill>
              <a:srgbClr val="8A97AD"/>
            </a:solidFill>
            <a:prstDash val="solid"/>
            <a:headEnd type="none"/>
            <a:tailEnd type="triangle"/>
          </a:ln>
        </p:spPr>
      </p:sp>
      <p:sp>
        <p:nvSpPr>
          <p:cNvPr id="33" name="Shape 28"/>
          <p:cNvSpPr/>
          <p:nvPr/>
        </p:nvSpPr>
        <p:spPr>
          <a:xfrm>
            <a:off x="8732520" y="5358384"/>
            <a:ext cx="1298448" cy="365760"/>
          </a:xfrm>
          <a:prstGeom prst="roundRect">
            <a:avLst>
              <a:gd name="adj" fmla="val 50000"/>
            </a:avLst>
          </a:prstGeom>
          <a:solidFill>
            <a:srgbClr val="E8F2FF"/>
          </a:solidFill>
          <a:ln/>
        </p:spPr>
      </p:sp>
      <p:sp>
        <p:nvSpPr>
          <p:cNvPr id="34" name="Text 29"/>
          <p:cNvSpPr/>
          <p:nvPr/>
        </p:nvSpPr>
        <p:spPr>
          <a:xfrm>
            <a:off x="8732520" y="5344668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异步深扫任务</a:t>
            </a:r>
            <a:endParaRPr lang="en-US" sz="950" dirty="0"/>
          </a:p>
        </p:txBody>
      </p:sp>
      <p:sp>
        <p:nvSpPr>
          <p:cNvPr id="35" name="Shape 30"/>
          <p:cNvSpPr/>
          <p:nvPr/>
        </p:nvSpPr>
        <p:spPr>
          <a:xfrm>
            <a:off x="10049256" y="5541264"/>
            <a:ext cx="201168" cy="0"/>
          </a:xfrm>
          <a:prstGeom prst="line">
            <a:avLst/>
          </a:prstGeom>
          <a:noFill/>
          <a:ln w="13970">
            <a:solidFill>
              <a:srgbClr val="8A97AD"/>
            </a:solidFill>
            <a:prstDash val="solid"/>
            <a:headEnd type="none"/>
            <a:tailEnd type="triangle"/>
          </a:ln>
        </p:spPr>
      </p:sp>
      <p:sp>
        <p:nvSpPr>
          <p:cNvPr id="36" name="Shape 31"/>
          <p:cNvSpPr/>
          <p:nvPr/>
        </p:nvSpPr>
        <p:spPr>
          <a:xfrm>
            <a:off x="10287000" y="5358384"/>
            <a:ext cx="1298448" cy="365760"/>
          </a:xfrm>
          <a:prstGeom prst="roundRect">
            <a:avLst>
              <a:gd name="adj" fmla="val 50000"/>
            </a:avLst>
          </a:prstGeom>
          <a:solidFill>
            <a:srgbClr val="FFF4E5"/>
          </a:solidFill>
          <a:ln/>
        </p:spPr>
      </p:sp>
      <p:sp>
        <p:nvSpPr>
          <p:cNvPr id="37" name="Text 32"/>
          <p:cNvSpPr/>
          <p:nvPr/>
        </p:nvSpPr>
        <p:spPr>
          <a:xfrm>
            <a:off x="10287000" y="5344668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46B0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报告卡 + 追问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DB Copilot · 项目汇报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6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总体架构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585216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D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分层架构：逻辑分层 × 物理归属（React / Go / Python / PG）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9692640" cy="603504"/>
          </a:xfrm>
          <a:prstGeom prst="roundRect">
            <a:avLst>
              <a:gd name="adj" fmla="val 9091"/>
            </a:avLst>
          </a:prstGeom>
          <a:solidFill>
            <a:srgbClr val="F4F8FF"/>
          </a:solidFill>
          <a:ln w="9525">
            <a:solidFill>
              <a:srgbClr val="D8E4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81328"/>
            <a:ext cx="1234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011680" y="1618488"/>
            <a:ext cx="1441094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8E4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0" y="1609344"/>
            <a:ext cx="14410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概览 / 集群 / 主机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580790" y="1618488"/>
            <a:ext cx="1342339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8E4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80790" y="1609344"/>
            <a:ext cx="13423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监控大盘（完整编辑器）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51146" y="1618488"/>
            <a:ext cx="1144829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8E4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51146" y="1609344"/>
            <a:ext cx="11448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智能对话（多会话）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323990" y="1618488"/>
            <a:ext cx="1046074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8E4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23990" y="1609344"/>
            <a:ext cx="10460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卡片渲染器注册表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198864" y="1636776"/>
            <a:ext cx="841248" cy="292608"/>
          </a:xfrm>
          <a:prstGeom prst="roundRect">
            <a:avLst>
              <a:gd name="adj" fmla="val 15625"/>
            </a:avLst>
          </a:prstGeom>
          <a:solidFill>
            <a:srgbClr val="0E1A30"/>
          </a:solidFill>
          <a:ln/>
        </p:spPr>
      </p:sp>
      <p:sp>
        <p:nvSpPr>
          <p:cNvPr id="17" name="Text 15"/>
          <p:cNvSpPr/>
          <p:nvPr/>
        </p:nvSpPr>
        <p:spPr>
          <a:xfrm>
            <a:off x="9198864" y="1627632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2920" y="2176272"/>
            <a:ext cx="9692640" cy="493776"/>
          </a:xfrm>
          <a:prstGeom prst="roundRect">
            <a:avLst>
              <a:gd name="adj" fmla="val 11111"/>
            </a:avLst>
          </a:prstGeom>
          <a:solidFill>
            <a:srgbClr val="F4F8FF"/>
          </a:solidFill>
          <a:ln w="9525">
            <a:solidFill>
              <a:srgbClr val="D8E4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2176272"/>
            <a:ext cx="1234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011680" y="2258568"/>
            <a:ext cx="848563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8E4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11680" y="2249424"/>
            <a:ext cx="84856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网关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988259" y="2258568"/>
            <a:ext cx="947318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8E4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88259" y="2249424"/>
            <a:ext cx="9473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SSO（二期）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063594" y="2258568"/>
            <a:ext cx="1342339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8E4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63594" y="2249424"/>
            <a:ext cx="13423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权限网关（MVP 桩）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198864" y="2276856"/>
            <a:ext cx="841248" cy="292608"/>
          </a:xfrm>
          <a:prstGeom prst="roundRect">
            <a:avLst>
              <a:gd name="adj" fmla="val 15625"/>
            </a:avLst>
          </a:prstGeom>
          <a:solidFill>
            <a:srgbClr val="006AFF"/>
          </a:solidFill>
          <a:ln/>
        </p:spPr>
      </p:sp>
      <p:sp>
        <p:nvSpPr>
          <p:cNvPr id="27" name="Text 25"/>
          <p:cNvSpPr/>
          <p:nvPr/>
        </p:nvSpPr>
        <p:spPr>
          <a:xfrm>
            <a:off x="9198864" y="2267712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02920" y="2761488"/>
            <a:ext cx="9692640" cy="768096"/>
          </a:xfrm>
          <a:prstGeom prst="roundRect">
            <a:avLst>
              <a:gd name="adj" fmla="val 7143"/>
            </a:avLst>
          </a:prstGeom>
          <a:solidFill>
            <a:srgbClr val="F4F8FF"/>
          </a:solidFill>
          <a:ln w="15240">
            <a:solidFill>
              <a:srgbClr val="006A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2761488"/>
            <a:ext cx="1234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应用服务层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011680" y="2980944"/>
            <a:ext cx="2132381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8E4F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11680" y="2971800"/>
            <a:ext cx="213238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大盘 / 元数据 / Issue 服务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272077" y="2980944"/>
            <a:ext cx="947318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8E4F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72077" y="2971800"/>
            <a:ext cx="9473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会话与档案服务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347411" y="2980944"/>
            <a:ext cx="2428646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8E4F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47411" y="2971800"/>
            <a:ext cx="24286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任务总线调度（轮询 / 对账 / wake）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904074" y="2980944"/>
            <a:ext cx="2231136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8E4F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04074" y="2971800"/>
            <a:ext cx="2231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内部数据 API（供 Agent 工具）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9198864" y="2999232"/>
            <a:ext cx="841248" cy="292608"/>
          </a:xfrm>
          <a:prstGeom prst="roundRect">
            <a:avLst>
              <a:gd name="adj" fmla="val 15625"/>
            </a:avLst>
          </a:prstGeom>
          <a:solidFill>
            <a:srgbClr val="006AFF"/>
          </a:solidFill>
          <a:ln/>
        </p:spPr>
      </p:sp>
      <p:sp>
        <p:nvSpPr>
          <p:cNvPr id="39" name="Text 37"/>
          <p:cNvSpPr/>
          <p:nvPr/>
        </p:nvSpPr>
        <p:spPr>
          <a:xfrm>
            <a:off x="9198864" y="2990088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02920" y="3621024"/>
            <a:ext cx="9692640" cy="768096"/>
          </a:xfrm>
          <a:prstGeom prst="roundRect">
            <a:avLst>
              <a:gd name="adj" fmla="val 7143"/>
            </a:avLst>
          </a:prstGeom>
          <a:solidFill>
            <a:srgbClr val="E8F2FF"/>
          </a:solidFill>
          <a:ln w="15240">
            <a:solidFill>
              <a:srgbClr val="006A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" y="3621024"/>
            <a:ext cx="1234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层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2011680" y="3840480"/>
            <a:ext cx="1638605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8E4F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011680" y="3831336"/>
            <a:ext cx="163860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路由 Agent（意图分发）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778301" y="3840480"/>
            <a:ext cx="1144829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8E4F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778301" y="3831336"/>
            <a:ext cx="11448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 / 问数专家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051146" y="3840480"/>
            <a:ext cx="749808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8E4F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51146" y="3831336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工具注册表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928970" y="3840480"/>
            <a:ext cx="749808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8E4F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928970" y="3831336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卡片生成器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9198864" y="3858768"/>
            <a:ext cx="841248" cy="292608"/>
          </a:xfrm>
          <a:prstGeom prst="roundRect">
            <a:avLst>
              <a:gd name="adj" fmla="val 15625"/>
            </a:avLst>
          </a:prstGeom>
          <a:solidFill>
            <a:srgbClr val="0F5132"/>
          </a:solidFill>
          <a:ln/>
        </p:spPr>
      </p:sp>
      <p:sp>
        <p:nvSpPr>
          <p:cNvPr id="51" name="Text 49"/>
          <p:cNvSpPr/>
          <p:nvPr/>
        </p:nvSpPr>
        <p:spPr>
          <a:xfrm>
            <a:off x="9198864" y="3849624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02920" y="4480560"/>
            <a:ext cx="9692640" cy="603504"/>
          </a:xfrm>
          <a:prstGeom prst="roundRect">
            <a:avLst>
              <a:gd name="adj" fmla="val 9091"/>
            </a:avLst>
          </a:prstGeom>
          <a:solidFill>
            <a:srgbClr val="F4F8FF"/>
          </a:solidFill>
          <a:ln w="9525">
            <a:solidFill>
              <a:srgbClr val="D8E4F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5800" y="4480560"/>
            <a:ext cx="1234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数据服务层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2011680" y="4617720"/>
            <a:ext cx="1836115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8E4F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011680" y="4608576"/>
            <a:ext cx="18361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指标查询代理（缓存 / 白名单）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975811" y="4617720"/>
            <a:ext cx="2329891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8E4F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975811" y="4608576"/>
            <a:ext cx="23298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Probe Executor（三通道路由）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433718" y="4617720"/>
            <a:ext cx="2231136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8E4F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33718" y="4608576"/>
            <a:ext cx="2231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实例接入网关（只读 / 审计 / 熔断）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198864" y="4636008"/>
            <a:ext cx="841248" cy="292608"/>
          </a:xfrm>
          <a:prstGeom prst="roundRect">
            <a:avLst>
              <a:gd name="adj" fmla="val 15625"/>
            </a:avLst>
          </a:prstGeom>
          <a:solidFill>
            <a:srgbClr val="006AFF"/>
          </a:solidFill>
          <a:ln/>
        </p:spPr>
      </p:sp>
      <p:sp>
        <p:nvSpPr>
          <p:cNvPr id="61" name="Text 59"/>
          <p:cNvSpPr/>
          <p:nvPr/>
        </p:nvSpPr>
        <p:spPr>
          <a:xfrm>
            <a:off x="9198864" y="4626864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02920" y="5175504"/>
            <a:ext cx="9692640" cy="493776"/>
          </a:xfrm>
          <a:prstGeom prst="roundRect">
            <a:avLst>
              <a:gd name="adj" fmla="val 11111"/>
            </a:avLst>
          </a:prstGeom>
          <a:solidFill>
            <a:srgbClr val="F4F8FF"/>
          </a:solidFill>
          <a:ln w="9525">
            <a:solidFill>
              <a:srgbClr val="D8E4F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85800" y="5175504"/>
            <a:ext cx="1234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存储层</a:t>
            </a:r>
            <a:endParaRPr lang="en-US" sz="1150" dirty="0"/>
          </a:p>
        </p:txBody>
      </p:sp>
      <p:sp>
        <p:nvSpPr>
          <p:cNvPr id="64" name="Shape 62"/>
          <p:cNvSpPr/>
          <p:nvPr/>
        </p:nvSpPr>
        <p:spPr>
          <a:xfrm>
            <a:off x="2011680" y="5257800"/>
            <a:ext cx="440375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8E4F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011680" y="5248656"/>
            <a:ext cx="44037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PostgreSQL 单库：元数据 · Issue · 会话轨迹 · 任务 · 缓存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9198864" y="5276088"/>
            <a:ext cx="841248" cy="292608"/>
          </a:xfrm>
          <a:prstGeom prst="roundRect">
            <a:avLst>
              <a:gd name="adj" fmla="val 15625"/>
            </a:avLst>
          </a:prstGeom>
          <a:solidFill>
            <a:srgbClr val="6E3A07"/>
          </a:solidFill>
          <a:ln/>
        </p:spPr>
      </p:sp>
      <p:sp>
        <p:nvSpPr>
          <p:cNvPr id="67" name="Text 65"/>
          <p:cNvSpPr/>
          <p:nvPr/>
        </p:nvSpPr>
        <p:spPr>
          <a:xfrm>
            <a:off x="9198864" y="5266944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502920" y="5760720"/>
            <a:ext cx="9692640" cy="566928"/>
          </a:xfrm>
          <a:prstGeom prst="roundRect">
            <a:avLst>
              <a:gd name="adj" fmla="val 9677"/>
            </a:avLst>
          </a:prstGeom>
          <a:solidFill>
            <a:srgbClr val="F4F8FF"/>
          </a:solidFill>
          <a:ln w="9525">
            <a:solidFill>
              <a:srgbClr val="D8E4F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85800" y="5760720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防腐层</a:t>
            </a:r>
            <a:endParaRPr lang="en-US" sz="1150" dirty="0"/>
          </a:p>
        </p:txBody>
      </p:sp>
      <p:sp>
        <p:nvSpPr>
          <p:cNvPr id="70" name="Shape 68"/>
          <p:cNvSpPr/>
          <p:nvPr/>
        </p:nvSpPr>
        <p:spPr>
          <a:xfrm>
            <a:off x="2011680" y="5879592"/>
            <a:ext cx="1144829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8E4F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011680" y="5870448"/>
            <a:ext cx="11448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DBaaS 适配器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3284525" y="5879592"/>
            <a:ext cx="749808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8E4F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284525" y="5870448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告警适配器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162349" y="5879592"/>
            <a:ext cx="1243584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8E4F5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162349" y="5870448"/>
            <a:ext cx="1243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监控 API 适配器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5533949" y="5879592"/>
            <a:ext cx="1638605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8E4F5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533949" y="5870448"/>
            <a:ext cx="163860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外采诊断适配器（契约后接入）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9198864" y="5897880"/>
            <a:ext cx="841248" cy="292608"/>
          </a:xfrm>
          <a:prstGeom prst="roundRect">
            <a:avLst>
              <a:gd name="adj" fmla="val 15625"/>
            </a:avLst>
          </a:prstGeom>
          <a:solidFill>
            <a:srgbClr val="006AFF"/>
          </a:solidFill>
          <a:ln/>
        </p:spPr>
      </p:sp>
      <p:sp>
        <p:nvSpPr>
          <p:cNvPr id="79" name="Text 77"/>
          <p:cNvSpPr/>
          <p:nvPr/>
        </p:nvSpPr>
        <p:spPr>
          <a:xfrm>
            <a:off x="9198864" y="5888736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10378440" y="5760720"/>
            <a:ext cx="13258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8E4F5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0378440" y="581558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存量系统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10195560" y="6044184"/>
            <a:ext cx="182880" cy="0"/>
          </a:xfrm>
          <a:prstGeom prst="line">
            <a:avLst/>
          </a:prstGeom>
          <a:noFill/>
          <a:ln w="15240">
            <a:solidFill>
              <a:srgbClr val="8A97AD"/>
            </a:solidFill>
            <a:prstDash val="solid"/>
            <a:headEnd type="none"/>
            <a:tailEnd type="triangle"/>
          </a:ln>
        </p:spPr>
      </p:sp>
      <p:sp>
        <p:nvSpPr>
          <p:cNvPr id="83" name="Shape 81"/>
          <p:cNvSpPr/>
          <p:nvPr/>
        </p:nvSpPr>
        <p:spPr>
          <a:xfrm>
            <a:off x="10378440" y="3712464"/>
            <a:ext cx="1325880" cy="585216"/>
          </a:xfrm>
          <a:prstGeom prst="roundRect">
            <a:avLst>
              <a:gd name="adj" fmla="val 9375"/>
            </a:avLst>
          </a:prstGeom>
          <a:solidFill>
            <a:srgbClr val="0052D9"/>
          </a:solidFill>
          <a:ln/>
        </p:spPr>
      </p:sp>
      <p:sp>
        <p:nvSpPr>
          <p:cNvPr id="84" name="Text 82"/>
          <p:cNvSpPr/>
          <p:nvPr/>
        </p:nvSpPr>
        <p:spPr>
          <a:xfrm>
            <a:off x="10378440" y="3712464"/>
            <a:ext cx="1325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公司统一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平台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10378440" y="4005072"/>
            <a:ext cx="-182880" cy="0"/>
          </a:xfrm>
          <a:prstGeom prst="line">
            <a:avLst/>
          </a:prstGeom>
          <a:noFill/>
          <a:ln w="17780">
            <a:solidFill>
              <a:srgbClr val="0052D9"/>
            </a:solidFill>
            <a:prstDash val="dash"/>
            <a:headEnd type="none"/>
            <a:tailEnd type="triangle"/>
          </a:ln>
        </p:spPr>
      </p:sp>
      <p:sp>
        <p:nvSpPr>
          <p:cNvPr id="86" name="Text 84"/>
          <p:cNvSpPr/>
          <p:nvPr/>
        </p:nvSpPr>
        <p:spPr>
          <a:xfrm>
            <a:off x="10314432" y="437083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8A97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 兼容 · tool calling · 流式（Python 直连）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DB Copilot · 项目汇报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6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总体架构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585216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D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技术选型与部署形态：Compose 四容器起步</a:t>
            </a:r>
            <a:endParaRPr lang="en-US" sz="2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53949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965960"/>
                <a:gridCol w="24231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层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选型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要点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D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E5D7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前端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E5D7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React 18 + TS + Vite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E5D7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卡片渲染器 = 组件注册，ECharts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E5D7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apiserver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E5D7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Go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E5D7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收口入口与存储，SSE 透传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E5D7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Agent 集群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E5D7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Python + LangGraph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E5D7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四端口封装，无状态多副本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E5D7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LLM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E5D7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公司统一 AI 平台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E5D7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OpenAI 兼容 · tool calling · 流式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E5D7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存储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E5D7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PostgreSQL 单库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E5D7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JSONB 承载卡片 / 轨迹；不引入中间件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E5D7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部署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E5D7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Docker Compose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E5D7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生产 K8s 后置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263640" y="1481328"/>
            <a:ext cx="5422392" cy="3291840"/>
          </a:xfrm>
          <a:prstGeom prst="roundRect">
            <a:avLst>
              <a:gd name="adj" fmla="val 1944"/>
            </a:avLst>
          </a:prstGeom>
          <a:solidFill>
            <a:srgbClr val="F4F8FF"/>
          </a:solidFill>
          <a:ln w="9525">
            <a:solidFill>
              <a:srgbClr val="D8E4F5"/>
            </a:solidFill>
            <a:prstDash val="solid"/>
          </a:ln>
          <a:effectLst>
            <a:outerShdw sx="100000" sy="100000" kx="0" ky="0" algn="bl" rotWithShape="0" blurRad="63500" dist="25400" dir="5400000">
              <a:srgbClr val="1D2B45">
                <a:alpha val="7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92240" y="16459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物理部署与调用关系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537960" y="2057400"/>
            <a:ext cx="137160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9525">
            <a:solidFill>
              <a:srgbClr val="D8E4F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37960" y="2048256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8321040" y="2057400"/>
            <a:ext cx="173736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9525">
            <a:solidFill>
              <a:srgbClr val="D8E4F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321040" y="2048256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frontend</a:t>
            </a:r>
            <a:endParaRPr lang="en-US" sz="9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(React·Nginx)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10195560" y="2057400"/>
            <a:ext cx="1280160" cy="502920"/>
          </a:xfrm>
          <a:prstGeom prst="roundRect">
            <a:avLst>
              <a:gd name="adj" fmla="val 12727"/>
            </a:avLst>
          </a:prstGeom>
          <a:solidFill>
            <a:srgbClr val="6E3A07"/>
          </a:solidFill>
          <a:ln/>
        </p:spPr>
      </p:sp>
      <p:sp>
        <p:nvSpPr>
          <p:cNvPr id="14" name="Text 11"/>
          <p:cNvSpPr/>
          <p:nvPr/>
        </p:nvSpPr>
        <p:spPr>
          <a:xfrm>
            <a:off x="10195560" y="2048256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PG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321040" y="3017520"/>
            <a:ext cx="1737360" cy="685800"/>
          </a:xfrm>
          <a:prstGeom prst="roundRect">
            <a:avLst>
              <a:gd name="adj" fmla="val 9333"/>
            </a:avLst>
          </a:prstGeom>
          <a:solidFill>
            <a:srgbClr val="006AFF"/>
          </a:solidFill>
          <a:ln/>
        </p:spPr>
      </p:sp>
      <p:sp>
        <p:nvSpPr>
          <p:cNvPr id="16" name="Text 13"/>
          <p:cNvSpPr/>
          <p:nvPr/>
        </p:nvSpPr>
        <p:spPr>
          <a:xfrm>
            <a:off x="8321040" y="3008376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apiserver (Go)</a:t>
            </a:r>
            <a:endParaRPr lang="en-US" sz="9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REST·SSE·内部API·调度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10195560" y="3063240"/>
            <a:ext cx="1280160" cy="594360"/>
          </a:xfrm>
          <a:prstGeom prst="roundRect">
            <a:avLst>
              <a:gd name="adj" fmla="val 10769"/>
            </a:avLst>
          </a:prstGeom>
          <a:solidFill>
            <a:srgbClr val="0F5132"/>
          </a:solidFill>
          <a:ln/>
        </p:spPr>
      </p:sp>
      <p:sp>
        <p:nvSpPr>
          <p:cNvPr id="18" name="Text 15"/>
          <p:cNvSpPr/>
          <p:nvPr/>
        </p:nvSpPr>
        <p:spPr>
          <a:xfrm>
            <a:off x="10195560" y="3054096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agentcluster</a:t>
            </a:r>
            <a:endParaRPr lang="en-US" sz="8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(Python)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537960" y="3977640"/>
            <a:ext cx="173736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9525">
            <a:solidFill>
              <a:srgbClr val="D8E4F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37960" y="3968496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存量系统</a:t>
            </a:r>
            <a:endParaRPr lang="en-US" sz="8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监控/DBaaS/告警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8778240" y="3977640"/>
            <a:ext cx="128016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9525">
            <a:solidFill>
              <a:srgbClr val="D8E4F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778240" y="3968496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8A97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外采诊断</a:t>
            </a:r>
            <a:endParaRPr lang="en-US" sz="8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8A97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(契约后)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10195560" y="3977640"/>
            <a:ext cx="1280160" cy="502920"/>
          </a:xfrm>
          <a:prstGeom prst="roundRect">
            <a:avLst>
              <a:gd name="adj" fmla="val 12727"/>
            </a:avLst>
          </a:prstGeom>
          <a:solidFill>
            <a:srgbClr val="0052D9"/>
          </a:solidFill>
          <a:ln/>
        </p:spPr>
      </p:sp>
      <p:sp>
        <p:nvSpPr>
          <p:cNvPr id="24" name="Text 21"/>
          <p:cNvSpPr/>
          <p:nvPr/>
        </p:nvSpPr>
        <p:spPr>
          <a:xfrm>
            <a:off x="10195560" y="3968496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平台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7909560" y="2304288"/>
            <a:ext cx="411480" cy="0"/>
          </a:xfrm>
          <a:prstGeom prst="line">
            <a:avLst/>
          </a:prstGeom>
          <a:noFill/>
          <a:ln w="15240">
            <a:solidFill>
              <a:srgbClr val="8A97AD"/>
            </a:solidFill>
            <a:prstDash val="solid"/>
            <a:headEnd type="none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9189720" y="2560320"/>
            <a:ext cx="0" cy="457200"/>
          </a:xfrm>
          <a:prstGeom prst="line">
            <a:avLst/>
          </a:prstGeom>
          <a:noFill/>
          <a:ln w="15240">
            <a:solidFill>
              <a:srgbClr val="8A97AD"/>
            </a:solidFill>
            <a:prstDash val="solid"/>
            <a:headEnd type="none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10058400" y="3291840"/>
            <a:ext cx="137160" cy="0"/>
          </a:xfrm>
          <a:prstGeom prst="line">
            <a:avLst/>
          </a:prstGeom>
          <a:noFill/>
          <a:ln w="12700">
            <a:solidFill>
              <a:srgbClr val="8A97AD"/>
            </a:solidFill>
            <a:prstDash val="solid"/>
            <a:headEnd type="none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8321040" y="3529584"/>
            <a:ext cx="-640080" cy="448056"/>
          </a:xfrm>
          <a:prstGeom prst="line">
            <a:avLst/>
          </a:prstGeom>
          <a:noFill/>
          <a:ln w="12700">
            <a:solidFill>
              <a:srgbClr val="8A97AD"/>
            </a:solidFill>
            <a:prstDash val="solid"/>
            <a:headEnd type="none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9692640" y="3703320"/>
            <a:ext cx="-594360" cy="274320"/>
          </a:xfrm>
          <a:prstGeom prst="line">
            <a:avLst/>
          </a:prstGeom>
          <a:noFill/>
          <a:ln w="12700">
            <a:solidFill>
              <a:srgbClr val="8A97AD"/>
            </a:solidFill>
            <a:prstDash val="dash"/>
            <a:headEnd type="none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10515600" y="3657600"/>
            <a:ext cx="0" cy="320040"/>
          </a:xfrm>
          <a:prstGeom prst="line">
            <a:avLst/>
          </a:prstGeom>
          <a:noFill/>
          <a:ln w="17780">
            <a:solidFill>
              <a:srgbClr val="0052D9"/>
            </a:solidFill>
            <a:prstDash val="dash"/>
            <a:headEnd type="none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10058400" y="3246120"/>
            <a:ext cx="137160" cy="0"/>
          </a:xfrm>
          <a:prstGeom prst="line">
            <a:avLst/>
          </a:prstGeom>
          <a:noFill/>
          <a:ln w="17780">
            <a:solidFill>
              <a:srgbClr val="00B365"/>
            </a:solidFill>
            <a:prstDash val="solid"/>
            <a:headEnd type="none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10195560" y="3474720"/>
            <a:ext cx="-137160" cy="0"/>
          </a:xfrm>
          <a:prstGeom prst="line">
            <a:avLst/>
          </a:prstGeom>
          <a:noFill/>
          <a:ln w="17780">
            <a:solidFill>
              <a:srgbClr val="00B365"/>
            </a:solidFill>
            <a:prstDash val="solid"/>
            <a:headEnd type="none"/>
            <a:tailEnd type="triangle"/>
          </a:ln>
        </p:spPr>
      </p:sp>
      <p:sp>
        <p:nvSpPr>
          <p:cNvPr id="33" name="Text 30"/>
          <p:cNvSpPr/>
          <p:nvPr/>
        </p:nvSpPr>
        <p:spPr>
          <a:xfrm>
            <a:off x="9646920" y="27249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B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SSE 透传 / 内部数据 API / wake 回调</a:t>
            </a:r>
            <a:endParaRPr lang="en-US" sz="750" dirty="0"/>
          </a:p>
        </p:txBody>
      </p:sp>
      <p:sp>
        <p:nvSpPr>
          <p:cNvPr id="34" name="Shape 31"/>
          <p:cNvSpPr/>
          <p:nvPr/>
        </p:nvSpPr>
        <p:spPr>
          <a:xfrm>
            <a:off x="502920" y="5074920"/>
            <a:ext cx="3639312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D8E4F5"/>
            </a:solidFill>
            <a:prstDash val="solid"/>
          </a:ln>
          <a:effectLst>
            <a:outerShdw sx="100000" sy="100000" kx="0" ky="0" algn="bl" rotWithShape="0" blurRad="63500" dist="25400" dir="5400000">
              <a:srgbClr val="1D2B45">
                <a:alpha val="7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704088" y="5285232"/>
            <a:ext cx="384048" cy="384048"/>
          </a:xfrm>
          <a:prstGeom prst="ellipse">
            <a:avLst/>
          </a:prstGeom>
          <a:solidFill>
            <a:srgbClr val="0052D9"/>
          </a:solidFill>
          <a:ln/>
        </p:spPr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260" y="5377404"/>
            <a:ext cx="199705" cy="199705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1216152" y="52303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入口收口</a:t>
            </a:r>
            <a:endParaRPr lang="en-US" sz="1250" dirty="0"/>
          </a:p>
        </p:txBody>
      </p:sp>
      <p:sp>
        <p:nvSpPr>
          <p:cNvPr id="38" name="Text 34"/>
          <p:cNvSpPr/>
          <p:nvPr/>
        </p:nvSpPr>
        <p:spPr>
          <a:xfrm>
            <a:off x="1216152" y="553212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前端一切请求（含 chat SSE）只打 apiserver</a:t>
            </a:r>
            <a:endParaRPr lang="en-US" sz="950" dirty="0"/>
          </a:p>
        </p:txBody>
      </p:sp>
      <p:sp>
        <p:nvSpPr>
          <p:cNvPr id="39" name="Shape 35"/>
          <p:cNvSpPr/>
          <p:nvPr/>
        </p:nvSpPr>
        <p:spPr>
          <a:xfrm>
            <a:off x="4325112" y="5074920"/>
            <a:ext cx="3639312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D8E4F5"/>
            </a:solidFill>
            <a:prstDash val="solid"/>
          </a:ln>
          <a:effectLst>
            <a:outerShdw sx="100000" sy="100000" kx="0" ky="0" algn="bl" rotWithShape="0" blurRad="63500" dist="25400" dir="5400000">
              <a:srgbClr val="1D2B45">
                <a:alpha val="7000"/>
              </a:srgbClr>
            </a:outerShdw>
          </a:effectLst>
        </p:spPr>
      </p:sp>
      <p:sp>
        <p:nvSpPr>
          <p:cNvPr id="40" name="Shape 36"/>
          <p:cNvSpPr/>
          <p:nvPr/>
        </p:nvSpPr>
        <p:spPr>
          <a:xfrm>
            <a:off x="4526280" y="5285232"/>
            <a:ext cx="384048" cy="384048"/>
          </a:xfrm>
          <a:prstGeom prst="ellipse">
            <a:avLst/>
          </a:prstGeom>
          <a:solidFill>
            <a:srgbClr val="0052D9"/>
          </a:solidFill>
          <a:ln/>
        </p:spPr>
      </p:sp>
      <p:pic>
        <p:nvPicPr>
          <p:cNvPr id="4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8452" y="5377404"/>
            <a:ext cx="199705" cy="199705"/>
          </a:xfrm>
          <a:prstGeom prst="rect">
            <a:avLst/>
          </a:prstGeom>
        </p:spPr>
      </p:pic>
      <p:sp>
        <p:nvSpPr>
          <p:cNvPr id="42" name="Text 37"/>
          <p:cNvSpPr/>
          <p:nvPr/>
        </p:nvSpPr>
        <p:spPr>
          <a:xfrm>
            <a:off x="5038344" y="52303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存储收口</a:t>
            </a:r>
            <a:endParaRPr lang="en-US" sz="1250" dirty="0"/>
          </a:p>
        </p:txBody>
      </p:sp>
      <p:sp>
        <p:nvSpPr>
          <p:cNvPr id="43" name="Text 38"/>
          <p:cNvSpPr/>
          <p:nvPr/>
        </p:nvSpPr>
        <p:spPr>
          <a:xfrm>
            <a:off x="5038344" y="553212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全部表归 Go 持有，Python 无状态</a:t>
            </a:r>
            <a:endParaRPr lang="en-US" sz="950" dirty="0"/>
          </a:p>
        </p:txBody>
      </p:sp>
      <p:sp>
        <p:nvSpPr>
          <p:cNvPr id="44" name="Shape 39"/>
          <p:cNvSpPr/>
          <p:nvPr/>
        </p:nvSpPr>
        <p:spPr>
          <a:xfrm>
            <a:off x="8147304" y="5074920"/>
            <a:ext cx="3639312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D8E4F5"/>
            </a:solidFill>
            <a:prstDash val="solid"/>
          </a:ln>
          <a:effectLst>
            <a:outerShdw sx="100000" sy="100000" kx="0" ky="0" algn="bl" rotWithShape="0" blurRad="63500" dist="25400" dir="5400000">
              <a:srgbClr val="1D2B45">
                <a:alpha val="7000"/>
              </a:srgbClr>
            </a:outerShdw>
          </a:effectLst>
        </p:spPr>
      </p:sp>
      <p:sp>
        <p:nvSpPr>
          <p:cNvPr id="45" name="Shape 40"/>
          <p:cNvSpPr/>
          <p:nvPr/>
        </p:nvSpPr>
        <p:spPr>
          <a:xfrm>
            <a:off x="8348472" y="5285232"/>
            <a:ext cx="384048" cy="384048"/>
          </a:xfrm>
          <a:prstGeom prst="ellipse">
            <a:avLst/>
          </a:prstGeom>
          <a:solidFill>
            <a:srgbClr val="0052D9"/>
          </a:solidFill>
          <a:ln/>
        </p:spPr>
      </p:sp>
      <p:pic>
        <p:nvPicPr>
          <p:cNvPr id="4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0644" y="5377404"/>
            <a:ext cx="199705" cy="199705"/>
          </a:xfrm>
          <a:prstGeom prst="rect">
            <a:avLst/>
          </a:prstGeom>
        </p:spPr>
      </p:pic>
      <p:sp>
        <p:nvSpPr>
          <p:cNvPr id="47" name="Text 41"/>
          <p:cNvSpPr/>
          <p:nvPr/>
        </p:nvSpPr>
        <p:spPr>
          <a:xfrm>
            <a:off x="8860536" y="52303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防腐收口</a:t>
            </a:r>
            <a:endParaRPr lang="en-US" sz="1250" dirty="0"/>
          </a:p>
        </p:txBody>
      </p:sp>
      <p:sp>
        <p:nvSpPr>
          <p:cNvPr id="48" name="Text 42"/>
          <p:cNvSpPr/>
          <p:nvPr/>
        </p:nvSpPr>
        <p:spPr>
          <a:xfrm>
            <a:off x="8860536" y="553212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全部旧系统调用在 Go 适配层</a:t>
            </a:r>
            <a:endParaRPr lang="en-US" sz="950" dirty="0"/>
          </a:p>
        </p:txBody>
      </p:sp>
      <p:sp>
        <p:nvSpPr>
          <p:cNvPr id="49" name="Text 43"/>
          <p:cNvSpPr/>
          <p:nvPr/>
        </p:nvSpPr>
        <p:spPr>
          <a:xfrm>
            <a:off x="6263640" y="482803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 ↔ Python 边界三原则（硬约束）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DB Copilot · 项目汇报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6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总体架构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585216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D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核心流程：智能诊断全链路时序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1371600" cy="402336"/>
          </a:xfrm>
          <a:prstGeom prst="roundRect">
            <a:avLst>
              <a:gd name="adj" fmla="val 13636"/>
            </a:avLst>
          </a:prstGeom>
          <a:solidFill>
            <a:srgbClr val="006AFF"/>
          </a:solidFill>
          <a:ln w="9525">
            <a:solidFill>
              <a:srgbClr val="D8E4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6245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用户(DBA)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51560" y="1874520"/>
            <a:ext cx="0" cy="4297680"/>
          </a:xfrm>
          <a:prstGeom prst="line">
            <a:avLst/>
          </a:prstGeom>
          <a:noFill/>
          <a:ln w="12700">
            <a:solidFill>
              <a:srgbClr val="D8E4F5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1920240" y="1371600"/>
            <a:ext cx="1371600" cy="402336"/>
          </a:xfrm>
          <a:prstGeom prst="roundRect">
            <a:avLst>
              <a:gd name="adj" fmla="val 13636"/>
            </a:avLst>
          </a:prstGeom>
          <a:solidFill>
            <a:srgbClr val="006AFF"/>
          </a:solidFill>
          <a:ln w="9525">
            <a:solidFill>
              <a:srgbClr val="D8E4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0240" y="136245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 React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606040" y="1874520"/>
            <a:ext cx="0" cy="4297680"/>
          </a:xfrm>
          <a:prstGeom prst="line">
            <a:avLst/>
          </a:prstGeom>
          <a:noFill/>
          <a:ln w="12700">
            <a:solidFill>
              <a:srgbClr val="D8E4F5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3474720" y="1371600"/>
            <a:ext cx="1371600" cy="402336"/>
          </a:xfrm>
          <a:prstGeom prst="roundRect">
            <a:avLst>
              <a:gd name="adj" fmla="val 13636"/>
            </a:avLst>
          </a:prstGeom>
          <a:solidFill>
            <a:srgbClr val="006AFF"/>
          </a:solidFill>
          <a:ln w="9525">
            <a:solidFill>
              <a:srgbClr val="D8E4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136245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 apiserver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60520" y="1874520"/>
            <a:ext cx="0" cy="4297680"/>
          </a:xfrm>
          <a:prstGeom prst="line">
            <a:avLst/>
          </a:prstGeom>
          <a:noFill/>
          <a:ln w="12700">
            <a:solidFill>
              <a:srgbClr val="D8E4F5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5029200" y="1371600"/>
            <a:ext cx="1371600" cy="402336"/>
          </a:xfrm>
          <a:prstGeom prst="roundRect">
            <a:avLst>
              <a:gd name="adj" fmla="val 13636"/>
            </a:avLst>
          </a:prstGeom>
          <a:solidFill>
            <a:srgbClr val="006AFF"/>
          </a:solidFill>
          <a:ln w="9525">
            <a:solidFill>
              <a:srgbClr val="D8E4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136245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专家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715000" y="1874520"/>
            <a:ext cx="0" cy="4297680"/>
          </a:xfrm>
          <a:prstGeom prst="line">
            <a:avLst/>
          </a:prstGeom>
          <a:noFill/>
          <a:ln w="12700">
            <a:solidFill>
              <a:srgbClr val="D8E4F5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6583680" y="1371600"/>
            <a:ext cx="1371600" cy="402336"/>
          </a:xfrm>
          <a:prstGeom prst="roundRect">
            <a:avLst>
              <a:gd name="adj" fmla="val 13636"/>
            </a:avLst>
          </a:prstGeom>
          <a:solidFill>
            <a:srgbClr val="006AFF"/>
          </a:solidFill>
          <a:ln w="9525">
            <a:solidFill>
              <a:srgbClr val="D8E4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136245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内部数据 API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269480" y="1874520"/>
            <a:ext cx="0" cy="4297680"/>
          </a:xfrm>
          <a:prstGeom prst="line">
            <a:avLst/>
          </a:prstGeom>
          <a:noFill/>
          <a:ln w="12700">
            <a:solidFill>
              <a:srgbClr val="D8E4F5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8138160" y="1371600"/>
            <a:ext cx="1371600" cy="402336"/>
          </a:xfrm>
          <a:prstGeom prst="roundRect">
            <a:avLst>
              <a:gd name="adj" fmla="val 13636"/>
            </a:avLst>
          </a:prstGeom>
          <a:solidFill>
            <a:srgbClr val="006AFF"/>
          </a:solidFill>
          <a:ln w="9525">
            <a:solidFill>
              <a:srgbClr val="D8E4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38160" y="136245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任务总线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823960" y="1874520"/>
            <a:ext cx="0" cy="4297680"/>
          </a:xfrm>
          <a:prstGeom prst="line">
            <a:avLst/>
          </a:prstGeom>
          <a:noFill/>
          <a:ln w="12700">
            <a:solidFill>
              <a:srgbClr val="D8E4F5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9692640" y="1371600"/>
            <a:ext cx="137160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D8E4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92640" y="136245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7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外采诊断·二期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0378440" y="1874520"/>
            <a:ext cx="0" cy="4297680"/>
          </a:xfrm>
          <a:prstGeom prst="line">
            <a:avLst/>
          </a:prstGeom>
          <a:noFill/>
          <a:ln w="12700">
            <a:solidFill>
              <a:srgbClr val="D8E4F5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1051560" y="2240280"/>
            <a:ext cx="1554480" cy="0"/>
          </a:xfrm>
          <a:prstGeom prst="line">
            <a:avLst/>
          </a:prstGeom>
          <a:noFill/>
          <a:ln w="15240">
            <a:solidFill>
              <a:srgbClr val="4E5D78"/>
            </a:solidFill>
            <a:prstDash val="solid"/>
            <a:headEnd type="none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914400" y="199339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「实例 X 变慢，帮我诊断」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67512" y="214884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52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606040" y="2606040"/>
            <a:ext cx="1554480" cy="0"/>
          </a:xfrm>
          <a:prstGeom prst="line">
            <a:avLst/>
          </a:prstGeom>
          <a:noFill/>
          <a:ln w="15240">
            <a:solidFill>
              <a:srgbClr val="4E5D78"/>
            </a:solidFill>
            <a:prstDash val="solid"/>
            <a:headEnd type="none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2468880" y="235915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发起会话轮次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221992" y="251460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52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160520" y="2971800"/>
            <a:ext cx="1554480" cy="0"/>
          </a:xfrm>
          <a:prstGeom prst="line">
            <a:avLst/>
          </a:prstGeom>
          <a:noFill/>
          <a:ln w="15240">
            <a:solidFill>
              <a:srgbClr val="4E5D78"/>
            </a:solidFill>
            <a:prstDash val="solid"/>
            <a:headEnd type="none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4023360" y="27249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SSE 透传（绑定会话）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776472" y="288036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52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715000" y="3364992"/>
            <a:ext cx="1554480" cy="0"/>
          </a:xfrm>
          <a:prstGeom prst="line">
            <a:avLst/>
          </a:prstGeom>
          <a:noFill/>
          <a:ln w="15240">
            <a:solidFill>
              <a:srgbClr val="4E5D78"/>
            </a:solidFill>
            <a:prstDash val="solid"/>
            <a:headEnd type="none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5577840" y="311810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同步工具：get_metrics / session_snapshot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330952" y="327355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52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269480" y="3730752"/>
            <a:ext cx="-1554480" cy="0"/>
          </a:xfrm>
          <a:prstGeom prst="line">
            <a:avLst/>
          </a:prstGeom>
          <a:noFill/>
          <a:ln w="15240">
            <a:solidFill>
              <a:srgbClr val="8A97AD"/>
            </a:solidFill>
            <a:prstDash val="dash"/>
            <a:headEnd type="none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5577840" y="34838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7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标准化结果（Schema 校验）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330952" y="363931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52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715000" y="4114800"/>
            <a:ext cx="3108960" cy="0"/>
          </a:xfrm>
          <a:prstGeom prst="line">
            <a:avLst/>
          </a:prstGeom>
          <a:noFill/>
          <a:ln w="15240">
            <a:solidFill>
              <a:srgbClr val="FF9500"/>
            </a:solidFill>
            <a:prstDash val="solid"/>
            <a:headEnd type="none"/>
            <a:tailEnd type="triangle"/>
          </a:ln>
        </p:spPr>
      </p:sp>
      <p:sp>
        <p:nvSpPr>
          <p:cNvPr id="43" name="Text 41"/>
          <p:cNvSpPr/>
          <p:nvPr/>
        </p:nvSpPr>
        <p:spPr>
          <a:xfrm>
            <a:off x="5577840" y="386791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95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提交深度诊断任务（异步 · 轮次终止）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330952" y="402336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52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715000" y="4498848"/>
            <a:ext cx="-3108960" cy="0"/>
          </a:xfrm>
          <a:prstGeom prst="line">
            <a:avLst/>
          </a:prstGeom>
          <a:noFill/>
          <a:ln w="15240">
            <a:solidFill>
              <a:srgbClr val="006AFF"/>
            </a:solidFill>
            <a:prstDash val="solid"/>
            <a:headEnd type="none"/>
            <a:tailEnd type="triangle"/>
          </a:ln>
        </p:spPr>
      </p:sp>
      <p:sp>
        <p:nvSpPr>
          <p:cNvPr id="46" name="Text 44"/>
          <p:cNvSpPr/>
          <p:nvPr/>
        </p:nvSpPr>
        <p:spPr>
          <a:xfrm>
            <a:off x="2468880" y="425196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6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流式回复「已启动」+ 进度卡（经 Go 透传）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2221992" y="44074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52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8823960" y="4864608"/>
            <a:ext cx="1554480" cy="0"/>
          </a:xfrm>
          <a:prstGeom prst="line">
            <a:avLst/>
          </a:prstGeom>
          <a:noFill/>
          <a:ln w="15240">
            <a:solidFill>
              <a:srgbClr val="8A97AD"/>
            </a:solidFill>
            <a:prstDash val="dash"/>
            <a:headEnd type="none"/>
            <a:tailEnd type="triangle"/>
          </a:ln>
        </p:spPr>
      </p:sp>
      <p:sp>
        <p:nvSpPr>
          <p:cNvPr id="49" name="Text 47"/>
          <p:cNvSpPr/>
          <p:nvPr/>
        </p:nvSpPr>
        <p:spPr>
          <a:xfrm>
            <a:off x="8686800" y="46177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7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submit / poll（契约到手后接入）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8439912" y="477316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52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8823960" y="5257800"/>
            <a:ext cx="-3108960" cy="0"/>
          </a:xfrm>
          <a:prstGeom prst="line">
            <a:avLst/>
          </a:prstGeom>
          <a:noFill/>
          <a:ln w="15240">
            <a:solidFill>
              <a:srgbClr val="FF9500"/>
            </a:solidFill>
            <a:prstDash val="solid"/>
            <a:headEnd type="none"/>
            <a:tailEnd type="triangle"/>
          </a:ln>
        </p:spPr>
      </p:sp>
      <p:sp>
        <p:nvSpPr>
          <p:cNvPr id="52" name="Text 50"/>
          <p:cNvSpPr/>
          <p:nvPr/>
        </p:nvSpPr>
        <p:spPr>
          <a:xfrm>
            <a:off x="5577840" y="501091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95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wake 唤醒：任务结果注入会话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5330952" y="516636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52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5715000" y="5623560"/>
            <a:ext cx="-3108960" cy="0"/>
          </a:xfrm>
          <a:prstGeom prst="line">
            <a:avLst/>
          </a:prstGeom>
          <a:noFill/>
          <a:ln w="15240">
            <a:solidFill>
              <a:srgbClr val="006AFF"/>
            </a:solidFill>
            <a:prstDash val="solid"/>
            <a:headEnd type="none"/>
            <a:tailEnd type="triangle"/>
          </a:ln>
        </p:spPr>
      </p:sp>
      <p:sp>
        <p:nvSpPr>
          <p:cNvPr id="55" name="Text 53"/>
          <p:cNvSpPr/>
          <p:nvPr/>
        </p:nvSpPr>
        <p:spPr>
          <a:xfrm>
            <a:off x="2468880" y="537667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6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诊断报告卡（二次推理 · 交叉验证）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2221992" y="553212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52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2606040" y="5989320"/>
            <a:ext cx="-1554480" cy="0"/>
          </a:xfrm>
          <a:prstGeom prst="line">
            <a:avLst/>
          </a:prstGeom>
          <a:noFill/>
          <a:ln w="15240">
            <a:solidFill>
              <a:srgbClr val="4E5D78"/>
            </a:solidFill>
            <a:prstDash val="solid"/>
            <a:headEnd type="none"/>
            <a:tailEnd type="triangle"/>
          </a:ln>
        </p:spPr>
      </p:sp>
      <p:sp>
        <p:nvSpPr>
          <p:cNvPr id="58" name="Text 56"/>
          <p:cNvSpPr/>
          <p:nvPr/>
        </p:nvSpPr>
        <p:spPr>
          <a:xfrm>
            <a:off x="914400" y="574243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卡片渲染 · 支持追问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667512" y="589788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52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02920" y="635508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任务完成 ≠ 直接弹结果：唤醒专家做「二次推理」，将任务结果与会话既有证据交叉验证后出结论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DB Copilot · 项目汇报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6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总体架构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585216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D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数据架构：三类通道 · 双数据流演进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3639312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D8E4F5"/>
            </a:solidFill>
            <a:prstDash val="solid"/>
          </a:ln>
          <a:effectLst>
            <a:outerShdw sx="100000" sy="100000" kx="0" ky="0" algn="bl" rotWithShape="0" blurRad="63500" dist="25400" dir="5400000">
              <a:srgbClr val="1D2B45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22376" y="1737360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E8F2FF"/>
          </a:solidFill>
          <a:ln/>
        </p:spPr>
      </p:sp>
      <p:sp>
        <p:nvSpPr>
          <p:cNvPr id="8" name="Text 6"/>
          <p:cNvSpPr/>
          <p:nvPr/>
        </p:nvSpPr>
        <p:spPr>
          <a:xfrm>
            <a:off x="722376" y="172821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· 本地沉淀通道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58952" y="228600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2000"/>
              </a:lnSpc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元数据 / 告警 / Issue</a:t>
            </a:r>
            <a:endParaRPr lang="en-US" sz="1050" dirty="0"/>
          </a:p>
          <a:p>
            <a:pPr marL="127000" indent="-127000">
              <a:lnSpc>
                <a:spcPct val="112000"/>
              </a:lnSpc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定时拉取 + 同步水位（幂等）</a:t>
            </a:r>
            <a:endParaRPr lang="en-US" sz="1050" dirty="0"/>
          </a:p>
          <a:p>
            <a:pPr marL="127000" indent="-127000">
              <a:lnSpc>
                <a:spcPct val="112000"/>
              </a:lnSpc>
              <a:buSzPct val="100000"/>
              <a:buChar char="▪"/>
            </a:pPr>
            <a:r>
              <a:rPr lang="en-US" sz="105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告警统一 Issue 化（平台内流转）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25112" y="1517904"/>
            <a:ext cx="3639312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D8E4F5"/>
            </a:solidFill>
            <a:prstDash val="solid"/>
          </a:ln>
          <a:effectLst>
            <a:outerShdw sx="100000" sy="100000" kx="0" ky="0" algn="bl" rotWithShape="0" blurRad="63500" dist="25400" dir="5400000">
              <a:srgbClr val="1D2B45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44568" y="1737360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E6F7EF"/>
          </a:solidFill>
          <a:ln/>
        </p:spPr>
      </p:sp>
      <p:sp>
        <p:nvSpPr>
          <p:cNvPr id="12" name="Text 10"/>
          <p:cNvSpPr/>
          <p:nvPr/>
        </p:nvSpPr>
        <p:spPr>
          <a:xfrm>
            <a:off x="4544568" y="172821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B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· 实时直连通道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81144" y="228600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2000"/>
              </a:lnSpc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 / 锁 / 慢SQL / 执行计划</a:t>
            </a:r>
            <a:endParaRPr lang="en-US" sz="1050" dirty="0"/>
          </a:p>
          <a:p>
            <a:pPr marL="127000" indent="-127000">
              <a:lnSpc>
                <a:spcPct val="112000"/>
              </a:lnSpc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实例接入网关：只读账号</a:t>
            </a:r>
            <a:endParaRPr lang="en-US" sz="1050" dirty="0"/>
          </a:p>
          <a:p>
            <a:pPr marL="127000" indent="-127000">
              <a:lnSpc>
                <a:spcPct val="112000"/>
              </a:lnSpc>
              <a:buSzPct val="100000"/>
              <a:buChar char="▪"/>
            </a:pPr>
            <a:r>
              <a:rPr lang="en-US" sz="105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操作审计 · 超时熔断（不缓存）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47304" y="1517904"/>
            <a:ext cx="3639312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D8E4F5"/>
            </a:solidFill>
            <a:prstDash val="solid"/>
          </a:ln>
          <a:effectLst>
            <a:outerShdw sx="100000" sy="100000" kx="0" ky="0" algn="bl" rotWithShape="0" blurRad="63500" dist="25400" dir="5400000">
              <a:srgbClr val="1D2B45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66760" y="1737360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FFF4E5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172821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95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· 旧系统 API 通道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403336" y="228600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2000"/>
              </a:lnSpc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时序指标经查询代理（带缓存）</a:t>
            </a:r>
            <a:endParaRPr lang="en-US" sz="1050" dirty="0"/>
          </a:p>
          <a:p>
            <a:pPr marL="127000" indent="-127000">
              <a:lnSpc>
                <a:spcPct val="112000"/>
              </a:lnSpc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限流 / 排队 / 降级返最近缓存值</a:t>
            </a:r>
            <a:endParaRPr lang="en-US" sz="1050" dirty="0"/>
          </a:p>
          <a:p>
            <a:pPr marL="127000" indent="-127000">
              <a:lnSpc>
                <a:spcPct val="112000"/>
              </a:lnSpc>
              <a:buSzPct val="100000"/>
              <a:buChar char="▪"/>
            </a:pPr>
            <a:r>
              <a:rPr lang="en-US" sz="105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二期被自建采集替换，上层无感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4041648"/>
            <a:ext cx="5486400" cy="210312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9525">
            <a:solidFill>
              <a:srgbClr val="D8E4F5"/>
            </a:solidFill>
            <a:prstDash val="solid"/>
          </a:ln>
          <a:effectLst>
            <a:outerShdw sx="100000" sy="100000" kx="0" ky="0" algn="bl" rotWithShape="0" blurRad="63500" dist="25400" dir="5400000">
              <a:srgbClr val="1D2B45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77240" y="4261104"/>
            <a:ext cx="402336" cy="402336"/>
          </a:xfrm>
          <a:prstGeom prst="ellipse">
            <a:avLst/>
          </a:prstGeom>
          <a:solidFill>
            <a:srgbClr val="0052D9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801" y="4357665"/>
            <a:ext cx="209215" cy="209215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325880" y="4297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诊断档案 = 一等公民资产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22960" y="4773168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2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 / 轮次 / 工具轨迹 / 报告全量落库</a:t>
            </a:r>
            <a:endParaRPr lang="en-US" sz="1050" dirty="0"/>
          </a:p>
          <a:p>
            <a:pPr marL="127000" indent="-127000">
              <a:lnSpc>
                <a:spcPct val="112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任一会话可完整回放（故障复盘 + 提示词回归）</a:t>
            </a:r>
            <a:endParaRPr lang="en-US" sz="1050" dirty="0"/>
          </a:p>
          <a:p>
            <a:pPr marL="127000" indent="-127000">
              <a:lnSpc>
                <a:spcPct val="112000"/>
              </a:lnSpc>
              <a:buSzPct val="100000"/>
              <a:buChar char="▪"/>
            </a:pPr>
            <a:r>
              <a:rPr lang="en-US" sz="105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大结果存 JSONB 引用，控制库体积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199632" y="4041648"/>
            <a:ext cx="5486400" cy="210312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9525">
            <a:solidFill>
              <a:srgbClr val="D8E4F5"/>
            </a:solidFill>
            <a:prstDash val="solid"/>
          </a:ln>
          <a:effectLst>
            <a:outerShdw sx="100000" sy="100000" kx="0" ky="0" algn="bl" rotWithShape="0" blurRad="63500" dist="25400" dir="5400000">
              <a:srgbClr val="1D2B45">
                <a:alpha val="7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473952" y="4261104"/>
            <a:ext cx="402336" cy="402336"/>
          </a:xfrm>
          <a:prstGeom prst="ellipse">
            <a:avLst/>
          </a:prstGeom>
          <a:solidFill>
            <a:srgbClr val="0052D9"/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0513" y="4357665"/>
            <a:ext cx="209215" cy="209215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7022592" y="4297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指标归一化 · 最小白名单策略（MVP）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6519672" y="4773168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2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只归一大盘与诊断所需 20~30 个核心指标</a:t>
            </a:r>
            <a:endParaRPr lang="en-US" sz="1050" dirty="0"/>
          </a:p>
          <a:p>
            <a:pPr marL="127000" indent="-127000">
              <a:lnSpc>
                <a:spcPct val="112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映射表落库：映射是数据不是代码，新增 = 插一行</a:t>
            </a:r>
            <a:endParaRPr lang="en-US" sz="1050" dirty="0"/>
          </a:p>
          <a:p>
            <a:pPr marL="127000" indent="-127000">
              <a:lnSpc>
                <a:spcPct val="112000"/>
              </a:lnSpc>
              <a:buSzPct val="100000"/>
              <a:buChar char="▪"/>
            </a:pPr>
            <a:r>
              <a:rPr lang="en-US" sz="105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未命中明确报错并给出注册指引，不猜测映射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DB Copilot · 项目汇报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6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关键模块 ①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585216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D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执行框架：四端口 + ReAct 循环（LangGraph 落地）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1737360" y="3319272"/>
            <a:ext cx="2286000" cy="1133856"/>
          </a:xfrm>
          <a:prstGeom prst="roundRect">
            <a:avLst>
              <a:gd name="adj" fmla="val 8065"/>
            </a:avLst>
          </a:prstGeom>
          <a:solidFill>
            <a:srgbClr val="0052D9"/>
          </a:solidFill>
          <a:ln/>
          <a:effectLst>
            <a:outerShdw sx="100000" sy="100000" kx="0" ky="0" algn="bl" rotWithShape="0" blurRad="101600" dist="38100" dir="5400000">
              <a:srgbClr val="0052D9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737360" y="3319272"/>
            <a:ext cx="22860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AgentLoop</a:t>
            </a:r>
            <a:endParaRPr lang="en-US" sz="1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执行循环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920240" y="1783080"/>
            <a:ext cx="1691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5240">
            <a:solidFill>
              <a:srgbClr val="006A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20240" y="18745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端口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20240" y="2148840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 AI 平台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 兼容·流式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11880" y="2203704"/>
            <a:ext cx="-1874520" cy="1499616"/>
          </a:xfrm>
          <a:prstGeom prst="line">
            <a:avLst/>
          </a:prstGeom>
          <a:noFill/>
          <a:ln w="13970">
            <a:solidFill>
              <a:srgbClr val="006AFF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114800" y="2651760"/>
            <a:ext cx="1691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5240">
            <a:solidFill>
              <a:srgbClr val="006A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0" y="27432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工具端口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0" y="3017520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统一工具注册表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Schema 校验·审计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114800" y="3072384"/>
            <a:ext cx="-91440" cy="630936"/>
          </a:xfrm>
          <a:prstGeom prst="line">
            <a:avLst/>
          </a:prstGeom>
          <a:noFill/>
          <a:ln w="13970">
            <a:solidFill>
              <a:srgbClr val="006AFF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920240" y="5257800"/>
            <a:ext cx="1691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5240">
            <a:solidFill>
              <a:srgbClr val="006A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20240" y="53492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上下文端口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920240" y="5623560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预算制装配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checkpoint 持久化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11880" y="5678424"/>
            <a:ext cx="-1874520" cy="-1609344"/>
          </a:xfrm>
          <a:prstGeom prst="line">
            <a:avLst/>
          </a:prstGeom>
          <a:noFill/>
          <a:ln w="13970">
            <a:solidFill>
              <a:srgbClr val="006AFF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114800" y="4389120"/>
            <a:ext cx="1691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5240">
            <a:solidFill>
              <a:srgbClr val="006A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0" y="44805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任务端口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0" y="4754880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异步任务提交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wake 续聊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114800" y="4809744"/>
            <a:ext cx="-91440" cy="-740664"/>
          </a:xfrm>
          <a:prstGeom prst="line">
            <a:avLst/>
          </a:prstGeom>
          <a:noFill/>
          <a:ln w="13970">
            <a:solidFill>
              <a:srgbClr val="006AFF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502920" y="62636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7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专家 = 声明式配置（AgentDefinition），基础设施全部挂接端口之下可替换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035040" y="160020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2000"/>
              </a:lnSpc>
              <a:buSzPct val="100000"/>
              <a:buChar char="▪"/>
            </a:pPr>
            <a:r>
              <a:rPr lang="en-US" sz="1150" b="1" dirty="0">
                <a:solidFill>
                  <a:srgbClr val="1D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一套运行时，所有专家复用　</a:t>
            </a:r>
            <a:endParaRPr lang="en-US" sz="1150" dirty="0"/>
          </a:p>
          <a:p>
            <a:pPr marL="127000" indent="-127000">
              <a:lnSpc>
                <a:spcPct val="112000"/>
              </a:lnSpc>
              <a:buSzPct val="100000"/>
              <a:buChar char="▪"/>
            </a:pPr>
            <a:r>
              <a:rPr lang="en-US" sz="1150" b="1" dirty="0">
                <a:solidFill>
                  <a:srgbClr val="1D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AgentDefinition 版本化　</a:t>
            </a:r>
            <a:endParaRPr lang="en-US" sz="1150" dirty="0"/>
          </a:p>
          <a:p>
            <a:pPr marL="127000" indent="-127000">
              <a:lnSpc>
                <a:spcPct val="112000"/>
              </a:lnSpc>
              <a:buSzPct val="100000"/>
              <a:buChar char="▪"/>
            </a:pPr>
            <a:r>
              <a:rPr lang="en-US" sz="1150" b="1" dirty="0">
                <a:solidFill>
                  <a:srgbClr val="1D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有界执行　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035040" y="31272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LangGraph 落地映射（Python 承载）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035040" y="3520440"/>
            <a:ext cx="2377440" cy="420624"/>
          </a:xfrm>
          <a:prstGeom prst="roundRect">
            <a:avLst>
              <a:gd name="adj" fmla="val 13043"/>
            </a:avLst>
          </a:prstGeom>
          <a:solidFill>
            <a:srgbClr val="E8F2FF"/>
          </a:solidFill>
          <a:ln/>
        </p:spPr>
      </p:sp>
      <p:sp>
        <p:nvSpPr>
          <p:cNvPr id="28" name="Text 26"/>
          <p:cNvSpPr/>
          <p:nvPr/>
        </p:nvSpPr>
        <p:spPr>
          <a:xfrm>
            <a:off x="6144768" y="35112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AgentLoop 循环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458200" y="3730752"/>
            <a:ext cx="274320" cy="0"/>
          </a:xfrm>
          <a:prstGeom prst="line">
            <a:avLst/>
          </a:prstGeom>
          <a:noFill/>
          <a:ln w="12700">
            <a:solidFill>
              <a:srgbClr val="8A97AD"/>
            </a:solidFill>
            <a:prstDash val="solid"/>
            <a:headEnd type="none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8823960" y="3511296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StateGraph：agent→tools→agent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035040" y="4032504"/>
            <a:ext cx="2377440" cy="420624"/>
          </a:xfrm>
          <a:prstGeom prst="roundRect">
            <a:avLst>
              <a:gd name="adj" fmla="val 13043"/>
            </a:avLst>
          </a:prstGeom>
          <a:solidFill>
            <a:srgbClr val="E8F2FF"/>
          </a:solidFill>
          <a:ln/>
        </p:spPr>
      </p:sp>
      <p:sp>
        <p:nvSpPr>
          <p:cNvPr id="32" name="Text 30"/>
          <p:cNvSpPr/>
          <p:nvPr/>
        </p:nvSpPr>
        <p:spPr>
          <a:xfrm>
            <a:off x="6144768" y="402336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流式输出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458200" y="4242816"/>
            <a:ext cx="274320" cy="0"/>
          </a:xfrm>
          <a:prstGeom prst="line">
            <a:avLst/>
          </a:prstGeom>
          <a:noFill/>
          <a:ln w="12700">
            <a:solidFill>
              <a:srgbClr val="8A97AD"/>
            </a:solidFill>
            <a:prstDash val="solid"/>
            <a:headEnd type="none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8823960" y="402336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astream_events → SSE 六类事件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035040" y="4544568"/>
            <a:ext cx="2377440" cy="420624"/>
          </a:xfrm>
          <a:prstGeom prst="roundRect">
            <a:avLst>
              <a:gd name="adj" fmla="val 13043"/>
            </a:avLst>
          </a:prstGeom>
          <a:solidFill>
            <a:srgbClr val="E8F2FF"/>
          </a:solidFill>
          <a:ln/>
        </p:spPr>
      </p:sp>
      <p:sp>
        <p:nvSpPr>
          <p:cNvPr id="36" name="Text 34"/>
          <p:cNvSpPr/>
          <p:nvPr/>
        </p:nvSpPr>
        <p:spPr>
          <a:xfrm>
            <a:off x="6144768" y="45354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上下文端口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458200" y="4754880"/>
            <a:ext cx="274320" cy="0"/>
          </a:xfrm>
          <a:prstGeom prst="line">
            <a:avLst/>
          </a:prstGeom>
          <a:noFill/>
          <a:ln w="12700">
            <a:solidFill>
              <a:srgbClr val="8A97AD"/>
            </a:solidFill>
            <a:prstDash val="solid"/>
            <a:headEnd type="none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8823960" y="4535424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自定义 Checkpointer（经 Go API 落 PG）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035040" y="5056632"/>
            <a:ext cx="2377440" cy="420624"/>
          </a:xfrm>
          <a:prstGeom prst="roundRect">
            <a:avLst>
              <a:gd name="adj" fmla="val 13043"/>
            </a:avLst>
          </a:prstGeom>
          <a:solidFill>
            <a:srgbClr val="E8F2FF"/>
          </a:solidFill>
          <a:ln/>
        </p:spPr>
      </p:sp>
      <p:sp>
        <p:nvSpPr>
          <p:cNvPr id="40" name="Text 38"/>
          <p:cNvSpPr/>
          <p:nvPr/>
        </p:nvSpPr>
        <p:spPr>
          <a:xfrm>
            <a:off x="6144768" y="504748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任务续聊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458200" y="5266944"/>
            <a:ext cx="274320" cy="0"/>
          </a:xfrm>
          <a:prstGeom prst="line">
            <a:avLst/>
          </a:prstGeom>
          <a:noFill/>
          <a:ln w="12700">
            <a:solidFill>
              <a:srgbClr val="8A97AD"/>
            </a:solidFill>
            <a:prstDash val="solid"/>
            <a:headEnd type="none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8823960" y="5047488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异步任务 END + wake 回调续跑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035040" y="5568696"/>
            <a:ext cx="2377440" cy="420624"/>
          </a:xfrm>
          <a:prstGeom prst="roundRect">
            <a:avLst>
              <a:gd name="adj" fmla="val 13043"/>
            </a:avLst>
          </a:prstGeom>
          <a:solidFill>
            <a:srgbClr val="E8F2FF"/>
          </a:solidFill>
          <a:ln/>
        </p:spPr>
      </p:sp>
      <p:sp>
        <p:nvSpPr>
          <p:cNvPr id="44" name="Text 42"/>
          <p:cNvSpPr/>
          <p:nvPr/>
        </p:nvSpPr>
        <p:spPr>
          <a:xfrm>
            <a:off x="6144768" y="555955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预算护栏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458200" y="5779008"/>
            <a:ext cx="274320" cy="0"/>
          </a:xfrm>
          <a:prstGeom prst="line">
            <a:avLst/>
          </a:prstGeom>
          <a:noFill/>
          <a:ln w="12700">
            <a:solidFill>
              <a:srgbClr val="8A97AD"/>
            </a:solidFill>
            <a:prstDash val="solid"/>
            <a:headEnd type="none"/>
            <a:tailEnd type="triangle"/>
          </a:ln>
        </p:spPr>
      </p:sp>
      <p:sp>
        <p:nvSpPr>
          <p:cNvPr id="46" name="Text 44"/>
          <p:cNvSpPr/>
          <p:nvPr/>
        </p:nvSpPr>
        <p:spPr>
          <a:xfrm>
            <a:off x="8823960" y="5559552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recursion_limit + guard 节点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DB Copilot · 项目汇报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6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关键模块 ②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585216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D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异步任务与续聊闭环：DB 为唯一事实源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02920" y="151790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DIAG_TASK 状态机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234440" y="2468880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8A97AD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245973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46120" y="2468880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006AFF"/>
          </a:solidFill>
          <a:ln/>
        </p:spPr>
      </p:sp>
      <p:sp>
        <p:nvSpPr>
          <p:cNvPr id="10" name="Text 8"/>
          <p:cNvSpPr/>
          <p:nvPr/>
        </p:nvSpPr>
        <p:spPr>
          <a:xfrm>
            <a:off x="3246120" y="245973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257800" y="2057400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00B365"/>
          </a:solidFill>
          <a:ln/>
        </p:spPr>
      </p:sp>
      <p:sp>
        <p:nvSpPr>
          <p:cNvPr id="12" name="Text 10"/>
          <p:cNvSpPr/>
          <p:nvPr/>
        </p:nvSpPr>
        <p:spPr>
          <a:xfrm>
            <a:off x="5257800" y="204825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257800" y="2971800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F53F3F"/>
          </a:solidFill>
          <a:ln/>
        </p:spPr>
      </p:sp>
      <p:sp>
        <p:nvSpPr>
          <p:cNvPr id="14" name="Text 12"/>
          <p:cNvSpPr/>
          <p:nvPr/>
        </p:nvSpPr>
        <p:spPr>
          <a:xfrm>
            <a:off x="5257800" y="296265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46120" y="3977640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8A97AD"/>
          </a:solidFill>
          <a:ln/>
        </p:spPr>
      </p:sp>
      <p:sp>
        <p:nvSpPr>
          <p:cNvPr id="16" name="Text 14"/>
          <p:cNvSpPr/>
          <p:nvPr/>
        </p:nvSpPr>
        <p:spPr>
          <a:xfrm>
            <a:off x="3246120" y="396849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cancelled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86000" y="2697480"/>
            <a:ext cx="960120" cy="0"/>
          </a:xfrm>
          <a:prstGeom prst="line">
            <a:avLst/>
          </a:prstGeom>
          <a:noFill/>
          <a:ln w="15240">
            <a:solidFill>
              <a:srgbClr val="4E5D78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297680" y="2606040"/>
            <a:ext cx="960120" cy="-320040"/>
          </a:xfrm>
          <a:prstGeom prst="line">
            <a:avLst/>
          </a:prstGeom>
          <a:noFill/>
          <a:ln w="15240">
            <a:solidFill>
              <a:srgbClr val="00B365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297680" y="2834640"/>
            <a:ext cx="960120" cy="274320"/>
          </a:xfrm>
          <a:prstGeom prst="line">
            <a:avLst/>
          </a:prstGeom>
          <a:noFill/>
          <a:ln w="15240">
            <a:solidFill>
              <a:srgbClr val="F53F3F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257800" y="3337560"/>
            <a:ext cx="-822960" cy="45720"/>
          </a:xfrm>
          <a:prstGeom prst="line">
            <a:avLst/>
          </a:prstGeom>
          <a:noFill/>
          <a:ln w="12700">
            <a:solidFill>
              <a:srgbClr val="F53F3F"/>
            </a:solidFill>
            <a:prstDash val="dash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4224528" y="340156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3F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重试(限次)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743200" y="2926080"/>
            <a:ext cx="502920" cy="1051560"/>
          </a:xfrm>
          <a:prstGeom prst="line">
            <a:avLst/>
          </a:prstGeom>
          <a:noFill/>
          <a:ln w="12700">
            <a:solidFill>
              <a:srgbClr val="8A97AD"/>
            </a:solidFill>
            <a:prstDash val="dash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1097280" y="1920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进度更新不改状态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A97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（progress / stage）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02920" y="4617720"/>
            <a:ext cx="5852160" cy="1600200"/>
          </a:xfrm>
          <a:prstGeom prst="roundRect">
            <a:avLst>
              <a:gd name="adj" fmla="val 4000"/>
            </a:avLst>
          </a:prstGeom>
          <a:solidFill>
            <a:srgbClr val="F4F8FF"/>
          </a:solidFill>
          <a:ln w="9525">
            <a:solidFill>
              <a:srgbClr val="D8E4F5"/>
            </a:solidFill>
            <a:prstDash val="solid"/>
          </a:ln>
          <a:effectLst>
            <a:outerShdw sx="100000" sy="100000" kx="0" ky="0" algn="bl" rotWithShape="0" blurRad="63500" dist="25400" dir="5400000">
              <a:srgbClr val="1D2B45">
                <a:alpha val="7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77240" y="484632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2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每次状态迁移写 task_event 流水（前态/后态/时间戳）</a:t>
            </a:r>
            <a:endParaRPr lang="en-US" sz="1050" dirty="0"/>
          </a:p>
          <a:p>
            <a:pPr marL="127000" indent="-127000">
              <a:lnSpc>
                <a:spcPct val="112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内存调度仅加速器：重启后 pending 重调度、running 对账改判</a:t>
            </a:r>
            <a:endParaRPr lang="en-US" sz="1050" dirty="0"/>
          </a:p>
          <a:p>
            <a:pPr marL="127000" indent="-127000">
              <a:lnSpc>
                <a:spcPct val="112000"/>
              </a:lnSpc>
              <a:buSzPct val="100000"/>
              <a:buChar char="▪"/>
            </a:pPr>
            <a:r>
              <a:rPr lang="en-US" sz="105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call_id 全局唯一 + 工具限流：防 Agent 循环重复提交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720840" y="151790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续聊闭环（分钟级任务不阻塞对话）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720840" y="1993392"/>
            <a:ext cx="402336" cy="402336"/>
          </a:xfrm>
          <a:prstGeom prst="ellipse">
            <a:avLst/>
          </a:prstGeom>
          <a:solidFill>
            <a:srgbClr val="006AFF"/>
          </a:solidFill>
          <a:ln/>
        </p:spPr>
      </p:sp>
      <p:sp>
        <p:nvSpPr>
          <p:cNvPr id="28" name="Text 26"/>
          <p:cNvSpPr/>
          <p:nvPr/>
        </p:nvSpPr>
        <p:spPr>
          <a:xfrm>
            <a:off x="6720840" y="1993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922008" y="2414016"/>
            <a:ext cx="0" cy="402336"/>
          </a:xfrm>
          <a:prstGeom prst="line">
            <a:avLst/>
          </a:prstGeom>
          <a:noFill/>
          <a:ln w="19050">
            <a:solidFill>
              <a:srgbClr val="D8E4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96912" y="193852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专家提交异步任务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296912" y="222199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本轮结束：回复「已启动」+ 进度卡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720840" y="2852928"/>
            <a:ext cx="402336" cy="402336"/>
          </a:xfrm>
          <a:prstGeom prst="ellipse">
            <a:avLst/>
          </a:prstGeom>
          <a:solidFill>
            <a:srgbClr val="006AFF"/>
          </a:solidFill>
          <a:ln/>
        </p:spPr>
      </p:sp>
      <p:sp>
        <p:nvSpPr>
          <p:cNvPr id="33" name="Text 31"/>
          <p:cNvSpPr/>
          <p:nvPr/>
        </p:nvSpPr>
        <p:spPr>
          <a:xfrm>
            <a:off x="6720840" y="2852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922008" y="3273552"/>
            <a:ext cx="0" cy="402336"/>
          </a:xfrm>
          <a:prstGeom prst="line">
            <a:avLst/>
          </a:prstGeom>
          <a:noFill/>
          <a:ln w="19050">
            <a:solidFill>
              <a:srgbClr val="D8E4F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96912" y="279806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进度流式更新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296912" y="308152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progress/stage 定向更新进度卡（幂等合并）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720840" y="3712464"/>
            <a:ext cx="402336" cy="402336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38" name="Text 36"/>
          <p:cNvSpPr/>
          <p:nvPr/>
        </p:nvSpPr>
        <p:spPr>
          <a:xfrm>
            <a:off x="6720840" y="3712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922008" y="4133088"/>
            <a:ext cx="0" cy="402336"/>
          </a:xfrm>
          <a:prstGeom prst="line">
            <a:avLst/>
          </a:prstGeom>
          <a:noFill/>
          <a:ln w="19050">
            <a:solidFill>
              <a:srgbClr val="D8E4F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296912" y="36576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 wake 回调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296912" y="394106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 调度器 → agentcluster 唤醒绑定专家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720840" y="4572000"/>
            <a:ext cx="402336" cy="402336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43" name="Text 41"/>
          <p:cNvSpPr/>
          <p:nvPr/>
        </p:nvSpPr>
        <p:spPr>
          <a:xfrm>
            <a:off x="6720840" y="4572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922008" y="4992624"/>
            <a:ext cx="0" cy="402336"/>
          </a:xfrm>
          <a:prstGeom prst="line">
            <a:avLst/>
          </a:prstGeom>
          <a:noFill/>
          <a:ln w="19050">
            <a:solidFill>
              <a:srgbClr val="D8E4F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96912" y="451713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系统轮次注入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296912" y="480060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任务结果作为输入创建 system turn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720840" y="5431536"/>
            <a:ext cx="402336" cy="402336"/>
          </a:xfrm>
          <a:prstGeom prst="ellipse">
            <a:avLst/>
          </a:prstGeom>
          <a:solidFill>
            <a:srgbClr val="00B365"/>
          </a:solidFill>
          <a:ln/>
        </p:spPr>
      </p:sp>
      <p:sp>
        <p:nvSpPr>
          <p:cNvPr id="48" name="Text 46"/>
          <p:cNvSpPr/>
          <p:nvPr/>
        </p:nvSpPr>
        <p:spPr>
          <a:xfrm>
            <a:off x="6720840" y="5431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7296912" y="537667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二次推理出报告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7296912" y="5660136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与既有证据交叉验证 → 诊断报告卡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DB Copilot · 项目汇报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6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关键模块 ③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585216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D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统一工具注册表：能力插件化，注册即接入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4846320" cy="2395728"/>
          </a:xfrm>
          <a:prstGeom prst="roundRect">
            <a:avLst>
              <a:gd name="adj" fmla="val 2672"/>
            </a:avLst>
          </a:prstGeom>
          <a:solidFill>
            <a:srgbClr val="FFFFFF"/>
          </a:solidFill>
          <a:ln w="9525">
            <a:solidFill>
              <a:srgbClr val="D8E4F5"/>
            </a:solidFill>
            <a:prstDash val="solid"/>
          </a:ln>
          <a:effectLst>
            <a:outerShdw sx="100000" sy="100000" kx="0" ky="0" algn="bl" rotWithShape="0" blurRad="63500" dist="25400" dir="5400000">
              <a:srgbClr val="1D2B45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6642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ToolDefinition 关键字段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04672" y="204825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52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606040" y="2048256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 LLM 看的说明书：何时用 / 不适用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4672" y="23500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52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input/output_schema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606040" y="235000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JSON Schema 双向强校验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04672" y="26517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52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execution_mode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606040" y="26517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sync / async 一等公民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4672" y="29535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52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risk_level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606040" y="295351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L0 只读自主 · L1/L2 需确认审批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4672" y="325526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52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db_types + routing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606040" y="3255264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按实例库类型路由候选工具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04672" y="35570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52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rate_limit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606040" y="3557016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 Agent 循环打挂下游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2920" y="4059936"/>
            <a:ext cx="4846320" cy="2084832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9525">
            <a:solidFill>
              <a:srgbClr val="D8E4F5"/>
            </a:solidFill>
            <a:prstDash val="solid"/>
          </a:ln>
          <a:effectLst>
            <a:outerShdw sx="100000" sy="100000" kx="0" ky="0" algn="bl" rotWithShape="0" blurRad="63500" dist="25400" dir="5400000">
              <a:srgbClr val="1D2B45">
                <a:alpha val="7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424281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外采诊断接入：三段式适配器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77240" y="4663440"/>
            <a:ext cx="1325880" cy="658368"/>
          </a:xfrm>
          <a:prstGeom prst="roundRect">
            <a:avLst>
              <a:gd name="adj" fmla="val 11111"/>
            </a:avLst>
          </a:prstGeom>
          <a:solidFill>
            <a:srgbClr val="E8F2FF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73659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52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" y="4992624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 + ID 映射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112264" y="4992624"/>
            <a:ext cx="146304" cy="0"/>
          </a:xfrm>
          <a:prstGeom prst="line">
            <a:avLst/>
          </a:prstGeom>
          <a:noFill/>
          <a:ln w="13970">
            <a:solidFill>
              <a:srgbClr val="8A97AD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2258568" y="4663440"/>
            <a:ext cx="1325880" cy="658368"/>
          </a:xfrm>
          <a:prstGeom prst="roundRect">
            <a:avLst>
              <a:gd name="adj" fmla="val 11111"/>
            </a:avLst>
          </a:prstGeom>
          <a:solidFill>
            <a:srgbClr val="E8F2FF"/>
          </a:solidFill>
          <a:ln/>
        </p:spPr>
      </p:sp>
      <p:sp>
        <p:nvSpPr>
          <p:cNvPr id="27" name="Text 25"/>
          <p:cNvSpPr/>
          <p:nvPr/>
        </p:nvSpPr>
        <p:spPr>
          <a:xfrm>
            <a:off x="2258568" y="473659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52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258568" y="4992624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轮询进度/状态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593592" y="4992624"/>
            <a:ext cx="146304" cy="0"/>
          </a:xfrm>
          <a:prstGeom prst="line">
            <a:avLst/>
          </a:prstGeom>
          <a:noFill/>
          <a:ln w="13970">
            <a:solidFill>
              <a:srgbClr val="8A97AD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3739896" y="4663440"/>
            <a:ext cx="1325880" cy="658368"/>
          </a:xfrm>
          <a:prstGeom prst="roundRect">
            <a:avLst>
              <a:gd name="adj" fmla="val 11111"/>
            </a:avLst>
          </a:prstGeom>
          <a:solidFill>
            <a:srgbClr val="E8F2FF"/>
          </a:solidFill>
          <a:ln/>
        </p:spPr>
      </p:sp>
      <p:sp>
        <p:nvSpPr>
          <p:cNvPr id="31" name="Text 29"/>
          <p:cNvSpPr/>
          <p:nvPr/>
        </p:nvSpPr>
        <p:spPr>
          <a:xfrm>
            <a:off x="3739896" y="473659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52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normalize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739896" y="4992624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报告归一化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77240" y="5468112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契约未到已落地规范与 shadow 注册位——契约到手仅实现一个 Go 适配器即接入，注册表 / 专家 / 前端零改动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577840" y="1481328"/>
            <a:ext cx="6108192" cy="4663440"/>
          </a:xfrm>
          <a:prstGeom prst="roundRect">
            <a:avLst>
              <a:gd name="adj" fmla="val 1373"/>
            </a:avLst>
          </a:prstGeom>
          <a:solidFill>
            <a:srgbClr val="FFFFFF"/>
          </a:solidFill>
          <a:ln w="9525">
            <a:solidFill>
              <a:srgbClr val="D8E4F5"/>
            </a:solidFill>
            <a:prstDash val="solid"/>
          </a:ln>
          <a:effectLst>
            <a:outerShdw sx="100000" sy="100000" kx="0" ky="0" algn="bl" rotWithShape="0" blurRad="63500" dist="25400" dir="5400000">
              <a:srgbClr val="1D2B45">
                <a:alpha val="7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852160" y="168249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MVP 自建工具清单（全部 L0 只读）</a:t>
            </a:r>
            <a:endParaRPr lang="en-US" sz="12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2103120"/>
          <a:ext cx="557784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960120"/>
                <a:gridCol w="1051560"/>
                <a:gridCol w="16002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类别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消费方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数据来源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D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52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builtin_get_metrics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E5D7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metrics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E5D7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问数/诊断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E5D7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指标查询代理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52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builtin_metric_anomaly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E5D7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metrics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E5D7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诊断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E5D7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阈值/环比检测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52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builtin_list_alerts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E5D7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alert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E5D7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问数/诊断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E5D7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 Issue 记录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52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builtin_list_instances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E5D7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topology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E5D7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问数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E5D7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DBaaS 同步元数据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52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builtin_top_slow_queries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E5D7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slow_sql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E5D7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问数/诊断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E5D7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慢日志 TOP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52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builtin_session_snapshot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E5D7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session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E5D7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诊断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E5D7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网关只读直连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52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builtin_lock_analysis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E5D7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lock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E5D7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诊断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E5D7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锁等待链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52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builtin_metric_deep_scan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E5D7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metrics·异步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E5D7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诊断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E5D7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验证异步闭环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7" name="Text 34"/>
          <p:cNvSpPr/>
          <p:nvPr/>
        </p:nvSpPr>
        <p:spPr>
          <a:xfrm>
            <a:off x="5852160" y="562356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7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问数专家仅绑定 metrics / alert / slow_sql / topology 四类（NL2Metric 白名单）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DB Copilot · 项目汇报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6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关键模块 ④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585216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D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Generative UI 卡片协议：AI 输出即界面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统一信封（Envelope）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4709160" cy="3017520"/>
          </a:xfrm>
          <a:prstGeom prst="roundRect">
            <a:avLst>
              <a:gd name="adj" fmla="val 2121"/>
            </a:avLst>
          </a:prstGeom>
          <a:solidFill>
            <a:srgbClr val="F4F8FF"/>
          </a:solidFill>
          <a:ln w="9525">
            <a:solidFill>
              <a:srgbClr val="D8E4F5"/>
            </a:solidFill>
            <a:prstDash val="solid"/>
          </a:ln>
          <a:effectLst>
            <a:outerShdw sx="100000" sy="100000" kx="0" ky="0" algn="bl" rotWithShape="0" blurRad="63500" dist="25400" dir="5400000">
              <a:srgbClr val="1D2B45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08483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52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card_id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377440" y="20848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全局唯一 · 流式幂等合并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7240" y="241401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52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card_type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377440" y="24140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类型枚举（只增不改）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" y="27432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52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377440" y="2743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streaming → final（定稿只读）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" y="307238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52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377440" y="30723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溯源：会话/轮次/Agent/工具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7240" y="340156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52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377440" y="34015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运维上下文：实例 + 时间窗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7240" y="373075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52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payload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377440" y="3730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类型特化数据（Schema 定义）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7240" y="405993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52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interactions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377440" y="40599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ask / drilldown / open_link…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77240" y="43891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52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fallback_text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377440" y="4389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降级 / 复制 / 纯文本场景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02920" y="5074920"/>
            <a:ext cx="4709160" cy="1097280"/>
          </a:xfrm>
          <a:prstGeom prst="roundRect">
            <a:avLst>
              <a:gd name="adj" fmla="val 5833"/>
            </a:avLst>
          </a:prstGeom>
          <a:solidFill>
            <a:srgbClr val="FFF4E5"/>
          </a:solidFill>
          <a:ln w="9525">
            <a:solidFill>
              <a:srgbClr val="FFD9A0"/>
            </a:solidFill>
            <a:prstDash val="solid"/>
          </a:ln>
          <a:effectLst>
            <a:outerShdw sx="100000" sy="100000" kx="0" ky="0" algn="bl" rotWithShape="0" blurRad="63500" dist="25400" dir="5400000">
              <a:srgbClr val="1D2B45">
                <a:alpha val="7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77240" y="507492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D46B0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向前兼容：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A5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未知 card_type 走 FallbackRenderer（标题 + 摘要），绝不白屏；版本不兼容降级为 fallback_text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77840" y="14813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MVP 五种卡片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577840" y="1874520"/>
            <a:ext cx="292608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8E4F5"/>
            </a:solidFill>
            <a:prstDash val="solid"/>
          </a:ln>
          <a:effectLst>
            <a:outerShdw sx="100000" sy="100000" kx="0" ky="0" algn="bl" rotWithShape="0" blurRad="63500" dist="25400" dir="5400000">
              <a:srgbClr val="1D2B45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760720" y="2112264"/>
            <a:ext cx="420624" cy="420624"/>
          </a:xfrm>
          <a:prstGeom prst="ellipse">
            <a:avLst/>
          </a:prstGeom>
          <a:solidFill>
            <a:srgbClr val="006AFF"/>
          </a:solidFill>
          <a:ln/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1670" y="2213214"/>
            <a:ext cx="218724" cy="218724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6309360" y="20391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富文本回复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309360" y="23317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text · Markdown 容器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8686800" y="1874520"/>
            <a:ext cx="292608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8E4F5"/>
            </a:solidFill>
            <a:prstDash val="solid"/>
          </a:ln>
          <a:effectLst>
            <a:outerShdw sx="100000" sy="100000" kx="0" ky="0" algn="bl" rotWithShape="0" blurRad="63500" dist="25400" dir="5400000">
              <a:srgbClr val="1D2B45">
                <a:alpha val="7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8869680" y="2112264"/>
            <a:ext cx="420624" cy="420624"/>
          </a:xfrm>
          <a:prstGeom prst="ellipse">
            <a:avLst/>
          </a:prstGeom>
          <a:solidFill>
            <a:srgbClr val="006AFF"/>
          </a:solidFill>
          <a:ln/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0630" y="2213214"/>
            <a:ext cx="218724" cy="218724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9418320" y="20391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图表卡</a:t>
            </a:r>
            <a:endParaRPr lang="en-US" sz="1200" dirty="0"/>
          </a:p>
        </p:txBody>
      </p:sp>
      <p:sp>
        <p:nvSpPr>
          <p:cNvPr id="36" name="Text 32"/>
          <p:cNvSpPr/>
          <p:nvPr/>
        </p:nvSpPr>
        <p:spPr>
          <a:xfrm>
            <a:off x="9418320" y="23317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metric_chart · 时序 + 类目分布</a:t>
            </a:r>
            <a:endParaRPr lang="en-US" sz="850" dirty="0"/>
          </a:p>
        </p:txBody>
      </p:sp>
      <p:sp>
        <p:nvSpPr>
          <p:cNvPr id="37" name="Shape 33"/>
          <p:cNvSpPr/>
          <p:nvPr/>
        </p:nvSpPr>
        <p:spPr>
          <a:xfrm>
            <a:off x="5577840" y="2916936"/>
            <a:ext cx="292608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8E4F5"/>
            </a:solidFill>
            <a:prstDash val="solid"/>
          </a:ln>
          <a:effectLst>
            <a:outerShdw sx="100000" sy="100000" kx="0" ky="0" algn="bl" rotWithShape="0" blurRad="63500" dist="25400" dir="5400000">
              <a:srgbClr val="1D2B45">
                <a:alpha val="7000"/>
              </a:srgbClr>
            </a:outerShdw>
          </a:effectLst>
        </p:spPr>
      </p:sp>
      <p:sp>
        <p:nvSpPr>
          <p:cNvPr id="38" name="Shape 34"/>
          <p:cNvSpPr/>
          <p:nvPr/>
        </p:nvSpPr>
        <p:spPr>
          <a:xfrm>
            <a:off x="5760720" y="3154680"/>
            <a:ext cx="420624" cy="420624"/>
          </a:xfrm>
          <a:prstGeom prst="ellipse">
            <a:avLst/>
          </a:prstGeom>
          <a:solidFill>
            <a:srgbClr val="006AFF"/>
          </a:solidFill>
          <a:ln/>
        </p:spPr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1670" y="3255630"/>
            <a:ext cx="218724" cy="218724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6309360" y="30815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数据表卡</a:t>
            </a:r>
            <a:endParaRPr lang="en-US" sz="1200" dirty="0"/>
          </a:p>
        </p:txBody>
      </p:sp>
      <p:sp>
        <p:nvSpPr>
          <p:cNvPr id="41" name="Text 36"/>
          <p:cNvSpPr/>
          <p:nvPr/>
        </p:nvSpPr>
        <p:spPr>
          <a:xfrm>
            <a:off x="6309360" y="337413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data_table · 行级「问 AI」追问</a:t>
            </a:r>
            <a:endParaRPr lang="en-US" sz="850" dirty="0"/>
          </a:p>
        </p:txBody>
      </p:sp>
      <p:sp>
        <p:nvSpPr>
          <p:cNvPr id="42" name="Shape 37"/>
          <p:cNvSpPr/>
          <p:nvPr/>
        </p:nvSpPr>
        <p:spPr>
          <a:xfrm>
            <a:off x="8686800" y="2916936"/>
            <a:ext cx="292608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8E4F5"/>
            </a:solidFill>
            <a:prstDash val="solid"/>
          </a:ln>
          <a:effectLst>
            <a:outerShdw sx="100000" sy="100000" kx="0" ky="0" algn="bl" rotWithShape="0" blurRad="63500" dist="25400" dir="5400000">
              <a:srgbClr val="1D2B45">
                <a:alpha val="7000"/>
              </a:srgbClr>
            </a:outerShdw>
          </a:effectLst>
        </p:spPr>
      </p:sp>
      <p:sp>
        <p:nvSpPr>
          <p:cNvPr id="43" name="Shape 38"/>
          <p:cNvSpPr/>
          <p:nvPr/>
        </p:nvSpPr>
        <p:spPr>
          <a:xfrm>
            <a:off x="8869680" y="3154680"/>
            <a:ext cx="420624" cy="420624"/>
          </a:xfrm>
          <a:prstGeom prst="ellipse">
            <a:avLst/>
          </a:prstGeom>
          <a:solidFill>
            <a:srgbClr val="006AFF"/>
          </a:solidFill>
          <a:ln/>
        </p:spPr>
      </p:sp>
      <p:pic>
        <p:nvPicPr>
          <p:cNvPr id="4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0630" y="3255630"/>
            <a:ext cx="218724" cy="218724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9418320" y="30815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进度卡</a:t>
            </a:r>
            <a:endParaRPr lang="en-US" sz="1200" dirty="0"/>
          </a:p>
        </p:txBody>
      </p:sp>
      <p:sp>
        <p:nvSpPr>
          <p:cNvPr id="46" name="Text 40"/>
          <p:cNvSpPr/>
          <p:nvPr/>
        </p:nvSpPr>
        <p:spPr>
          <a:xfrm>
            <a:off x="9418320" y="337413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task_progress · 异步任务步骤条</a:t>
            </a:r>
            <a:endParaRPr lang="en-US" sz="850" dirty="0"/>
          </a:p>
        </p:txBody>
      </p:sp>
      <p:sp>
        <p:nvSpPr>
          <p:cNvPr id="47" name="Shape 41"/>
          <p:cNvSpPr/>
          <p:nvPr/>
        </p:nvSpPr>
        <p:spPr>
          <a:xfrm>
            <a:off x="5577840" y="3959352"/>
            <a:ext cx="292608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8E4F5"/>
            </a:solidFill>
            <a:prstDash val="solid"/>
          </a:ln>
          <a:effectLst>
            <a:outerShdw sx="100000" sy="100000" kx="0" ky="0" algn="bl" rotWithShape="0" blurRad="63500" dist="25400" dir="5400000">
              <a:srgbClr val="1D2B45">
                <a:alpha val="7000"/>
              </a:srgbClr>
            </a:outerShdw>
          </a:effectLst>
        </p:spPr>
      </p:sp>
      <p:sp>
        <p:nvSpPr>
          <p:cNvPr id="48" name="Shape 42"/>
          <p:cNvSpPr/>
          <p:nvPr/>
        </p:nvSpPr>
        <p:spPr>
          <a:xfrm>
            <a:off x="5760720" y="4197096"/>
            <a:ext cx="420624" cy="420624"/>
          </a:xfrm>
          <a:prstGeom prst="ellipse">
            <a:avLst/>
          </a:prstGeom>
          <a:solidFill>
            <a:srgbClr val="FF9500"/>
          </a:solidFill>
          <a:ln/>
        </p:spPr>
      </p:sp>
      <p:pic>
        <p:nvPicPr>
          <p:cNvPr id="4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1670" y="4298046"/>
            <a:ext cx="218724" cy="218724"/>
          </a:xfrm>
          <a:prstGeom prst="rect">
            <a:avLst/>
          </a:prstGeom>
        </p:spPr>
      </p:pic>
      <p:sp>
        <p:nvSpPr>
          <p:cNvPr id="50" name="Text 43"/>
          <p:cNvSpPr/>
          <p:nvPr/>
        </p:nvSpPr>
        <p:spPr>
          <a:xfrm>
            <a:off x="6309360" y="412394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诊断报告卡</a:t>
            </a:r>
            <a:endParaRPr lang="en-US" sz="1200" dirty="0"/>
          </a:p>
        </p:txBody>
      </p:sp>
      <p:sp>
        <p:nvSpPr>
          <p:cNvPr id="51" name="Text 44"/>
          <p:cNvSpPr/>
          <p:nvPr/>
        </p:nvSpPr>
        <p:spPr>
          <a:xfrm>
            <a:off x="6309360" y="441655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diagnosis_report · 根因置信度/证据链</a:t>
            </a:r>
            <a:endParaRPr lang="en-US" sz="850" dirty="0"/>
          </a:p>
        </p:txBody>
      </p:sp>
      <p:sp>
        <p:nvSpPr>
          <p:cNvPr id="52" name="Shape 45"/>
          <p:cNvSpPr/>
          <p:nvPr/>
        </p:nvSpPr>
        <p:spPr>
          <a:xfrm>
            <a:off x="5577840" y="5074920"/>
            <a:ext cx="6108192" cy="1097280"/>
          </a:xfrm>
          <a:prstGeom prst="roundRect">
            <a:avLst>
              <a:gd name="adj" fmla="val 5833"/>
            </a:avLst>
          </a:prstGeom>
          <a:solidFill>
            <a:srgbClr val="E8F2FF"/>
          </a:solidFill>
          <a:ln w="9525">
            <a:solidFill>
              <a:srgbClr val="D8E4F5"/>
            </a:solidFill>
            <a:prstDash val="solid"/>
          </a:ln>
          <a:effectLst>
            <a:outerShdw sx="100000" sy="100000" kx="0" ky="0" algn="bl" rotWithShape="0" blurRad="63500" dist="25400" dir="5400000">
              <a:srgbClr val="1D2B45">
                <a:alpha val="7000"/>
              </a:srgbClr>
            </a:outerShdw>
          </a:effectLst>
        </p:spPr>
      </p:sp>
      <p:sp>
        <p:nvSpPr>
          <p:cNvPr id="53" name="Shape 46"/>
          <p:cNvSpPr/>
          <p:nvPr/>
        </p:nvSpPr>
        <p:spPr>
          <a:xfrm>
            <a:off x="5833872" y="5330952"/>
            <a:ext cx="420624" cy="420624"/>
          </a:xfrm>
          <a:prstGeom prst="ellipse">
            <a:avLst/>
          </a:prstGeom>
          <a:solidFill>
            <a:srgbClr val="0052D9"/>
          </a:solidFill>
          <a:ln/>
        </p:spPr>
      </p:sp>
      <p:pic>
        <p:nvPicPr>
          <p:cNvPr id="5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4822" y="5431902"/>
            <a:ext cx="218724" cy="218724"/>
          </a:xfrm>
          <a:prstGeom prst="rect">
            <a:avLst/>
          </a:prstGeom>
        </p:spPr>
      </p:pic>
      <p:sp>
        <p:nvSpPr>
          <p:cNvPr id="55" name="Text 47"/>
          <p:cNvSpPr/>
          <p:nvPr/>
        </p:nvSpPr>
        <p:spPr>
          <a:xfrm>
            <a:off x="6400800" y="507492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1D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渲染器注册表（前端）：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新增卡片类型 = 注册渲染器组件，协议与 AI 层零互改（依赖倒置）；卡片容器统一处理信封，业务渲染器只消费 payload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DB Copilot · 项目汇报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6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关键模块 ⑤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585216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D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当前进展：前端 MVP 已完成并通过验收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572768"/>
            <a:ext cx="292608" cy="292608"/>
          </a:xfrm>
          <a:prstGeom prst="ellipse">
            <a:avLst/>
          </a:prstGeom>
          <a:solidFill>
            <a:srgbClr val="00B36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146" y="1642994"/>
            <a:ext cx="152156" cy="1521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55448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18 + TS + Vite 全新实现（约 4200 行 / 25 文件）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17920" y="1572768"/>
            <a:ext cx="292608" cy="292608"/>
          </a:xfrm>
          <a:prstGeom prst="ellipse">
            <a:avLst/>
          </a:prstGeom>
          <a:solidFill>
            <a:srgbClr val="00B365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8146" y="1642994"/>
            <a:ext cx="152156" cy="1521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629400" y="155448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大盘完整复刻：多大盘管理 · 面板编辑器 · 实时预览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02920" y="2048256"/>
            <a:ext cx="292608" cy="292608"/>
          </a:xfrm>
          <a:prstGeom prst="ellipse">
            <a:avLst/>
          </a:prstGeom>
          <a:solidFill>
            <a:srgbClr val="00B365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146" y="2118482"/>
            <a:ext cx="152156" cy="1521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14400" y="2029968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智能对话：多会话 + SSE 六类事件流式渲染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217920" y="2048256"/>
            <a:ext cx="292608" cy="292608"/>
          </a:xfrm>
          <a:prstGeom prst="ellipse">
            <a:avLst/>
          </a:prstGeom>
          <a:solidFill>
            <a:srgbClr val="00B365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8146" y="2118482"/>
            <a:ext cx="152156" cy="15215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629400" y="2029968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五种卡片渲染器注册表（协议对齐，联调即验收）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502920" y="2523744"/>
            <a:ext cx="292608" cy="292608"/>
          </a:xfrm>
          <a:prstGeom prst="ellipse">
            <a:avLst/>
          </a:prstGeom>
          <a:solidFill>
            <a:srgbClr val="00B365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146" y="2593970"/>
            <a:ext cx="152156" cy="15215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14400" y="2505456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Mock / Api 双 Provider：后端就绪换 URL，页面零改动</a:t>
            </a:r>
            <a:endParaRPr lang="en-US" sz="1100" dirty="0"/>
          </a:p>
        </p:txBody>
      </p:sp>
      <p:sp>
        <p:nvSpPr>
          <p:cNvPr id="21" name="Shape 14"/>
          <p:cNvSpPr/>
          <p:nvPr/>
        </p:nvSpPr>
        <p:spPr>
          <a:xfrm>
            <a:off x="6217920" y="2523744"/>
            <a:ext cx="292608" cy="292608"/>
          </a:xfrm>
          <a:prstGeom prst="ellipse">
            <a:avLst/>
          </a:prstGeom>
          <a:solidFill>
            <a:srgbClr val="00B365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8146" y="2593970"/>
            <a:ext cx="152156" cy="152156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6629400" y="2505456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 echarts visualMap 缺陷（原型遗留隐藏 bug）</a:t>
            </a:r>
            <a:endParaRPr lang="en-US" sz="1100" dirty="0"/>
          </a:p>
        </p:txBody>
      </p:sp>
      <p:sp>
        <p:nvSpPr>
          <p:cNvPr id="24" name="Shape 16"/>
          <p:cNvSpPr/>
          <p:nvPr/>
        </p:nvSpPr>
        <p:spPr>
          <a:xfrm>
            <a:off x="466344" y="3200400"/>
            <a:ext cx="3803904" cy="2487168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8E4F5"/>
            </a:solidFill>
            <a:prstDash val="solid"/>
          </a:ln>
          <a:effectLst>
            <a:outerShdw sx="100000" sy="100000" kx="0" ky="0" algn="bl" rotWithShape="0" blurRad="76200" dist="25400" dir="5400000">
              <a:srgbClr val="1D2B45">
                <a:alpha val="12000"/>
              </a:srgbClr>
            </a:outerShdw>
          </a:effectLst>
        </p:spPr>
      </p:sp>
      <p:pic>
        <p:nvPicPr>
          <p:cNvPr id="25" name="Image 6" descr="/Users/luoms/workspace/db-copilot/ppt/assets/shot-overvie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3236976"/>
            <a:ext cx="3730752" cy="233172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502920" y="5614416"/>
            <a:ext cx="3730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7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运维概览：类型/告警/异常 TOP5/锁分析</a:t>
            </a:r>
            <a:endParaRPr lang="en-US" sz="950" dirty="0"/>
          </a:p>
        </p:txBody>
      </p:sp>
      <p:sp>
        <p:nvSpPr>
          <p:cNvPr id="27" name="Shape 18"/>
          <p:cNvSpPr/>
          <p:nvPr/>
        </p:nvSpPr>
        <p:spPr>
          <a:xfrm>
            <a:off x="4416552" y="3200400"/>
            <a:ext cx="3803904" cy="2487168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8E4F5"/>
            </a:solidFill>
            <a:prstDash val="solid"/>
          </a:ln>
          <a:effectLst>
            <a:outerShdw sx="100000" sy="100000" kx="0" ky="0" algn="bl" rotWithShape="0" blurRad="76200" dist="25400" dir="5400000">
              <a:srgbClr val="1D2B45">
                <a:alpha val="12000"/>
              </a:srgbClr>
            </a:outerShdw>
          </a:effectLst>
        </p:spPr>
      </p:sp>
      <p:pic>
        <p:nvPicPr>
          <p:cNvPr id="28" name="Image 7" descr="/Users/luoms/workspace/db-copilot/ppt/assets/shot-edito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53128" y="3236976"/>
            <a:ext cx="3730752" cy="233172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4453128" y="5614416"/>
            <a:ext cx="3730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7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大盘面板编辑器：多指标 + 实时预览</a:t>
            </a:r>
            <a:endParaRPr lang="en-US" sz="950" dirty="0"/>
          </a:p>
        </p:txBody>
      </p:sp>
      <p:sp>
        <p:nvSpPr>
          <p:cNvPr id="30" name="Shape 20"/>
          <p:cNvSpPr/>
          <p:nvPr/>
        </p:nvSpPr>
        <p:spPr>
          <a:xfrm>
            <a:off x="8366760" y="3200400"/>
            <a:ext cx="3803904" cy="2487168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8E4F5"/>
            </a:solidFill>
            <a:prstDash val="solid"/>
          </a:ln>
          <a:effectLst>
            <a:outerShdw sx="100000" sy="100000" kx="0" ky="0" algn="bl" rotWithShape="0" blurRad="76200" dist="25400" dir="5400000">
              <a:srgbClr val="1D2B45">
                <a:alpha val="12000"/>
              </a:srgbClr>
            </a:outerShdw>
          </a:effectLst>
        </p:spPr>
      </p:sp>
      <p:pic>
        <p:nvPicPr>
          <p:cNvPr id="31" name="Image 8" descr="/Users/luoms/workspace/db-copilot/ppt/assets/shot-cha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03336" y="3236976"/>
            <a:ext cx="3730752" cy="2331720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8403336" y="5614416"/>
            <a:ext cx="3730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7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智能诊断全流程：轨迹 + 卡片 + 报告</a:t>
            </a:r>
            <a:endParaRPr lang="en-US" sz="950" dirty="0"/>
          </a:p>
        </p:txBody>
      </p:sp>
      <p:sp>
        <p:nvSpPr>
          <p:cNvPr id="33" name="Text 22"/>
          <p:cNvSpPr/>
          <p:nvPr/>
        </p:nvSpPr>
        <p:spPr>
          <a:xfrm>
            <a:off x="502920" y="605332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7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截图为 React 真实运行界面（mock 数据）——对 fixtures 契约开发，后端就绪后直接切换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DB Copilot · 项目汇报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6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分工与验收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585216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D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任务分派：三个任务系列（本人 + 工程师 A + 工程师 B）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3611880" cy="4617720"/>
          </a:xfrm>
          <a:prstGeom prst="roundRect">
            <a:avLst>
              <a:gd name="adj" fmla="val 1772"/>
            </a:avLst>
          </a:prstGeom>
          <a:solidFill>
            <a:srgbClr val="FFFFFF"/>
          </a:solidFill>
          <a:ln w="9525">
            <a:solidFill>
              <a:srgbClr val="D8E4F5"/>
            </a:solidFill>
            <a:prstDash val="solid"/>
          </a:ln>
          <a:effectLst>
            <a:outerShdw sx="100000" sy="100000" kx="0" ky="0" algn="bl" rotWithShape="0" blurRad="63500" dist="25400" dir="5400000">
              <a:srgbClr val="1D2B45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22376" y="1737360"/>
            <a:ext cx="457200" cy="457200"/>
          </a:xfrm>
          <a:prstGeom prst="ellipse">
            <a:avLst/>
          </a:prstGeom>
          <a:solidFill>
            <a:srgbClr val="006A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1847088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07592" y="1755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系列 1 · 前端 + apiserver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307592" y="202996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7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本人 · 平台入口与数据枢纽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22376" y="2450592"/>
            <a:ext cx="3200400" cy="320040"/>
          </a:xfrm>
          <a:prstGeom prst="roundRect">
            <a:avLst>
              <a:gd name="adj" fmla="val 14286"/>
            </a:avLst>
          </a:prstGeom>
          <a:solidFill>
            <a:srgbClr val="F4F8FF"/>
          </a:solidFill>
          <a:ln w="9525">
            <a:solidFill>
              <a:srgbClr val="D8E4F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32104" y="244144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 骨架与契约桩（W1-2）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722376" y="2834640"/>
            <a:ext cx="3200400" cy="320040"/>
          </a:xfrm>
          <a:prstGeom prst="roundRect">
            <a:avLst>
              <a:gd name="adj" fmla="val 14286"/>
            </a:avLst>
          </a:prstGeom>
          <a:solidFill>
            <a:srgbClr val="F4F8FF"/>
          </a:solidFill>
          <a:ln w="9525">
            <a:solidFill>
              <a:srgbClr val="D8E4F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2104" y="282549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 会话与档案服务（W3-4）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722376" y="3218688"/>
            <a:ext cx="3200400" cy="320040"/>
          </a:xfrm>
          <a:prstGeom prst="roundRect">
            <a:avLst>
              <a:gd name="adj" fmla="val 14286"/>
            </a:avLst>
          </a:prstGeom>
          <a:solidFill>
            <a:srgbClr val="F4F8FF"/>
          </a:solidFill>
          <a:ln w="9525">
            <a:solidFill>
              <a:srgbClr val="D8E4F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32104" y="320954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 内部工具数据 API（W3-5）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722376" y="3602736"/>
            <a:ext cx="3200400" cy="320040"/>
          </a:xfrm>
          <a:prstGeom prst="roundRect">
            <a:avLst>
              <a:gd name="adj" fmla="val 14286"/>
            </a:avLst>
          </a:prstGeom>
          <a:solidFill>
            <a:srgbClr val="F4F8FF"/>
          </a:solidFill>
          <a:ln w="9525">
            <a:solidFill>
              <a:srgbClr val="D8E4F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2104" y="359359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 任务总线调度（W5-6）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22376" y="3986784"/>
            <a:ext cx="3200400" cy="320040"/>
          </a:xfrm>
          <a:prstGeom prst="roundRect">
            <a:avLst>
              <a:gd name="adj" fmla="val 14286"/>
            </a:avLst>
          </a:prstGeom>
          <a:solidFill>
            <a:srgbClr val="F4F8FF"/>
          </a:solidFill>
          <a:ln w="9525">
            <a:solidFill>
              <a:srgbClr val="D8E4F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32104" y="39776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1.5 SSE 透传对接（W6）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722376" y="4370832"/>
            <a:ext cx="3200400" cy="320040"/>
          </a:xfrm>
          <a:prstGeom prst="roundRect">
            <a:avLst>
              <a:gd name="adj" fmla="val 14286"/>
            </a:avLst>
          </a:prstGeom>
          <a:solidFill>
            <a:srgbClr val="F4F8FF"/>
          </a:solidFill>
          <a:ln w="9525">
            <a:solidFill>
              <a:srgbClr val="D8E4F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32104" y="43616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1.6 元数据/告警同步编排（W4-6）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722376" y="4754880"/>
            <a:ext cx="3200400" cy="320040"/>
          </a:xfrm>
          <a:prstGeom prst="roundRect">
            <a:avLst>
              <a:gd name="adj" fmla="val 14286"/>
            </a:avLst>
          </a:prstGeom>
          <a:solidFill>
            <a:srgbClr val="F4F8FF"/>
          </a:solidFill>
          <a:ln w="9525">
            <a:solidFill>
              <a:srgbClr val="D8E4F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32104" y="474573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1.7 前端切换与联调（W7-10）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722376" y="5138928"/>
            <a:ext cx="3200400" cy="320040"/>
          </a:xfrm>
          <a:prstGeom prst="roundRect">
            <a:avLst>
              <a:gd name="adj" fmla="val 14286"/>
            </a:avLst>
          </a:prstGeom>
          <a:solidFill>
            <a:srgbClr val="F4F8FF"/>
          </a:solidFill>
          <a:ln w="9525">
            <a:solidFill>
              <a:srgbClr val="D8E4F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32104" y="512978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1.8 Compose 验收交付（W11-12）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722376" y="5596128"/>
            <a:ext cx="3200400" cy="658368"/>
          </a:xfrm>
          <a:prstGeom prst="roundRect">
            <a:avLst>
              <a:gd name="adj" fmla="val 8333"/>
            </a:avLst>
          </a:prstGeom>
          <a:solidFill>
            <a:srgbClr val="E8F2FF"/>
          </a:solidFill>
          <a:ln/>
        </p:spPr>
      </p:sp>
      <p:sp>
        <p:nvSpPr>
          <p:cNvPr id="28" name="Text 25"/>
          <p:cNvSpPr/>
          <p:nvPr/>
        </p:nvSpPr>
        <p:spPr>
          <a:xfrm>
            <a:off x="832104" y="5632704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系列出口验收：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北极星全链路 + 前端零改动切换 + 一键拉起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4279392" y="1517904"/>
            <a:ext cx="3611880" cy="4617720"/>
          </a:xfrm>
          <a:prstGeom prst="roundRect">
            <a:avLst>
              <a:gd name="adj" fmla="val 1772"/>
            </a:avLst>
          </a:prstGeom>
          <a:solidFill>
            <a:srgbClr val="FFFFFF"/>
          </a:solidFill>
          <a:ln w="9525">
            <a:solidFill>
              <a:srgbClr val="D8E4F5"/>
            </a:solidFill>
            <a:prstDash val="solid"/>
          </a:ln>
          <a:effectLst>
            <a:outerShdw sx="100000" sy="100000" kx="0" ky="0" algn="bl" rotWithShape="0" blurRad="63500" dist="25400" dir="5400000">
              <a:srgbClr val="1D2B45">
                <a:alpha val="7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498848" y="1737360"/>
            <a:ext cx="457200" cy="457200"/>
          </a:xfrm>
          <a:prstGeom prst="ellipse">
            <a:avLst/>
          </a:prstGeom>
          <a:solidFill>
            <a:srgbClr val="0F5132"/>
          </a:solidFill>
          <a:ln/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576" y="1847088"/>
            <a:ext cx="237744" cy="237744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5084064" y="1755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系列 2 · Agent 集群（Python）</a:t>
            </a:r>
            <a:endParaRPr lang="en-US" sz="1250" dirty="0"/>
          </a:p>
        </p:txBody>
      </p:sp>
      <p:sp>
        <p:nvSpPr>
          <p:cNvPr id="33" name="Text 29"/>
          <p:cNvSpPr/>
          <p:nvPr/>
        </p:nvSpPr>
        <p:spPr>
          <a:xfrm>
            <a:off x="5084064" y="202996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7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工程师 A · 多专家对话服务</a:t>
            </a:r>
            <a:endParaRPr lang="en-US" sz="950" dirty="0"/>
          </a:p>
        </p:txBody>
      </p:sp>
      <p:sp>
        <p:nvSpPr>
          <p:cNvPr id="34" name="Shape 30"/>
          <p:cNvSpPr/>
          <p:nvPr/>
        </p:nvSpPr>
        <p:spPr>
          <a:xfrm>
            <a:off x="4498848" y="2450592"/>
            <a:ext cx="3200400" cy="320040"/>
          </a:xfrm>
          <a:prstGeom prst="roundRect">
            <a:avLst>
              <a:gd name="adj" fmla="val 14286"/>
            </a:avLst>
          </a:prstGeom>
          <a:solidFill>
            <a:srgbClr val="F4F8FF"/>
          </a:solidFill>
          <a:ln w="9525">
            <a:solidFill>
              <a:srgbClr val="D8E4F5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608576" y="244144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 契约样品库 fixtures（W2-3）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4498848" y="2834640"/>
            <a:ext cx="3200400" cy="320040"/>
          </a:xfrm>
          <a:prstGeom prst="roundRect">
            <a:avLst>
              <a:gd name="adj" fmla="val 14286"/>
            </a:avLst>
          </a:prstGeom>
          <a:solidFill>
            <a:srgbClr val="F4F8FF"/>
          </a:solidFill>
          <a:ln w="9525">
            <a:solidFill>
              <a:srgbClr val="D8E4F5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4608576" y="282549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 Agent 运行时基座（W3-6）</a:t>
            </a:r>
            <a:endParaRPr lang="en-US" sz="900" dirty="0"/>
          </a:p>
        </p:txBody>
      </p:sp>
      <p:sp>
        <p:nvSpPr>
          <p:cNvPr id="38" name="Shape 34"/>
          <p:cNvSpPr/>
          <p:nvPr/>
        </p:nvSpPr>
        <p:spPr>
          <a:xfrm>
            <a:off x="4498848" y="3218688"/>
            <a:ext cx="3200400" cy="320040"/>
          </a:xfrm>
          <a:prstGeom prst="roundRect">
            <a:avLst>
              <a:gd name="adj" fmla="val 14286"/>
            </a:avLst>
          </a:prstGeom>
          <a:solidFill>
            <a:srgbClr val="F4F8FF"/>
          </a:solidFill>
          <a:ln w="9525">
            <a:solidFill>
              <a:srgbClr val="D8E4F5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4608576" y="320954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 路由+诊断专家+续聊闭环（W5-8）</a:t>
            </a:r>
            <a:endParaRPr lang="en-US" sz="900" dirty="0"/>
          </a:p>
        </p:txBody>
      </p:sp>
      <p:sp>
        <p:nvSpPr>
          <p:cNvPr id="40" name="Shape 36"/>
          <p:cNvSpPr/>
          <p:nvPr/>
        </p:nvSpPr>
        <p:spPr>
          <a:xfrm>
            <a:off x="4498848" y="3602736"/>
            <a:ext cx="3200400" cy="320040"/>
          </a:xfrm>
          <a:prstGeom prst="roundRect">
            <a:avLst>
              <a:gd name="adj" fmla="val 14286"/>
            </a:avLst>
          </a:prstGeom>
          <a:solidFill>
            <a:srgbClr val="F4F8FF"/>
          </a:solidFill>
          <a:ln w="9525">
            <a:solidFill>
              <a:srgbClr val="D8E4F5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4608576" y="359359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2.4 问数专家（W9-10）</a:t>
            </a:r>
            <a:endParaRPr lang="en-US" sz="900" dirty="0"/>
          </a:p>
        </p:txBody>
      </p:sp>
      <p:sp>
        <p:nvSpPr>
          <p:cNvPr id="42" name="Shape 38"/>
          <p:cNvSpPr/>
          <p:nvPr/>
        </p:nvSpPr>
        <p:spPr>
          <a:xfrm>
            <a:off x="4498848" y="4059936"/>
            <a:ext cx="3200400" cy="658368"/>
          </a:xfrm>
          <a:prstGeom prst="roundRect">
            <a:avLst>
              <a:gd name="adj" fmla="val 8333"/>
            </a:avLst>
          </a:prstGeom>
          <a:solidFill>
            <a:srgbClr val="E8F2FF"/>
          </a:solidFill>
          <a:ln/>
        </p:spPr>
      </p:sp>
      <p:sp>
        <p:nvSpPr>
          <p:cNvPr id="43" name="Text 39"/>
          <p:cNvSpPr/>
          <p:nvPr/>
        </p:nvSpPr>
        <p:spPr>
          <a:xfrm>
            <a:off x="4608576" y="4096512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系列出口验收：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fixtures 回放=真实链路 · 无状态 2 副本 50 并发</a:t>
            </a:r>
            <a:endParaRPr lang="en-US" sz="850" dirty="0"/>
          </a:p>
        </p:txBody>
      </p:sp>
      <p:sp>
        <p:nvSpPr>
          <p:cNvPr id="44" name="Shape 40"/>
          <p:cNvSpPr/>
          <p:nvPr/>
        </p:nvSpPr>
        <p:spPr>
          <a:xfrm>
            <a:off x="8055864" y="1517904"/>
            <a:ext cx="3611880" cy="4617720"/>
          </a:xfrm>
          <a:prstGeom prst="roundRect">
            <a:avLst>
              <a:gd name="adj" fmla="val 1772"/>
            </a:avLst>
          </a:prstGeom>
          <a:solidFill>
            <a:srgbClr val="FFFFFF"/>
          </a:solidFill>
          <a:ln w="9525">
            <a:solidFill>
              <a:srgbClr val="D8E4F5"/>
            </a:solidFill>
            <a:prstDash val="solid"/>
          </a:ln>
          <a:effectLst>
            <a:outerShdw sx="100000" sy="100000" kx="0" ky="0" algn="bl" rotWithShape="0" blurRad="63500" dist="25400" dir="5400000">
              <a:srgbClr val="1D2B45">
                <a:alpha val="7000"/>
              </a:srgbClr>
            </a:outerShdw>
          </a:effectLst>
        </p:spPr>
      </p:sp>
      <p:sp>
        <p:nvSpPr>
          <p:cNvPr id="45" name="Shape 41"/>
          <p:cNvSpPr/>
          <p:nvPr/>
        </p:nvSpPr>
        <p:spPr>
          <a:xfrm>
            <a:off x="8275320" y="1737360"/>
            <a:ext cx="457200" cy="457200"/>
          </a:xfrm>
          <a:prstGeom prst="ellipse">
            <a:avLst/>
          </a:prstGeom>
          <a:solidFill>
            <a:srgbClr val="6E3A07"/>
          </a:solidFill>
          <a:ln/>
        </p:spPr>
      </p:sp>
      <p:pic>
        <p:nvPicPr>
          <p:cNvPr id="4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5048" y="1847088"/>
            <a:ext cx="237744" cy="237744"/>
          </a:xfrm>
          <a:prstGeom prst="rect">
            <a:avLst/>
          </a:prstGeom>
        </p:spPr>
      </p:pic>
      <p:sp>
        <p:nvSpPr>
          <p:cNvPr id="47" name="Text 42"/>
          <p:cNvSpPr/>
          <p:nvPr/>
        </p:nvSpPr>
        <p:spPr>
          <a:xfrm>
            <a:off x="8860536" y="1755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系列 3 · 数据与集成</a:t>
            </a:r>
            <a:endParaRPr lang="en-US" sz="1250" dirty="0"/>
          </a:p>
        </p:txBody>
      </p:sp>
      <p:sp>
        <p:nvSpPr>
          <p:cNvPr id="48" name="Text 43"/>
          <p:cNvSpPr/>
          <p:nvPr/>
        </p:nvSpPr>
        <p:spPr>
          <a:xfrm>
            <a:off x="8860536" y="202996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7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工程师 B · 库表基座 + 防腐 + 外采</a:t>
            </a:r>
            <a:endParaRPr lang="en-US" sz="950" dirty="0"/>
          </a:p>
        </p:txBody>
      </p:sp>
      <p:sp>
        <p:nvSpPr>
          <p:cNvPr id="49" name="Shape 44"/>
          <p:cNvSpPr/>
          <p:nvPr/>
        </p:nvSpPr>
        <p:spPr>
          <a:xfrm>
            <a:off x="8275320" y="2450592"/>
            <a:ext cx="3200400" cy="320040"/>
          </a:xfrm>
          <a:prstGeom prst="roundRect">
            <a:avLst>
              <a:gd name="adj" fmla="val 14286"/>
            </a:avLst>
          </a:prstGeom>
          <a:solidFill>
            <a:srgbClr val="F4F8FF"/>
          </a:solidFill>
          <a:ln w="9525">
            <a:solidFill>
              <a:srgbClr val="D8E4F5"/>
            </a:solidFill>
            <a:prstDash val="solid"/>
          </a:ln>
        </p:spPr>
      </p:sp>
      <p:sp>
        <p:nvSpPr>
          <p:cNvPr id="50" name="Text 45"/>
          <p:cNvSpPr/>
          <p:nvPr/>
        </p:nvSpPr>
        <p:spPr>
          <a:xfrm>
            <a:off x="8385048" y="244144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 PG Schema + 部署编排（W1-2）</a:t>
            </a:r>
            <a:endParaRPr lang="en-US" sz="900" dirty="0"/>
          </a:p>
        </p:txBody>
      </p:sp>
      <p:sp>
        <p:nvSpPr>
          <p:cNvPr id="51" name="Shape 46"/>
          <p:cNvSpPr/>
          <p:nvPr/>
        </p:nvSpPr>
        <p:spPr>
          <a:xfrm>
            <a:off x="8275320" y="2834640"/>
            <a:ext cx="3200400" cy="320040"/>
          </a:xfrm>
          <a:prstGeom prst="roundRect">
            <a:avLst>
              <a:gd name="adj" fmla="val 14286"/>
            </a:avLst>
          </a:prstGeom>
          <a:solidFill>
            <a:srgbClr val="F4F8FF"/>
          </a:solidFill>
          <a:ln w="9525">
            <a:solidFill>
              <a:srgbClr val="D8E4F5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8385048" y="282549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 旧系统适配器 ×3（W3-6）</a:t>
            </a:r>
            <a:endParaRPr lang="en-US" sz="900" dirty="0"/>
          </a:p>
        </p:txBody>
      </p:sp>
      <p:sp>
        <p:nvSpPr>
          <p:cNvPr id="53" name="Shape 48"/>
          <p:cNvSpPr/>
          <p:nvPr/>
        </p:nvSpPr>
        <p:spPr>
          <a:xfrm>
            <a:off x="8275320" y="3218688"/>
            <a:ext cx="3200400" cy="320040"/>
          </a:xfrm>
          <a:prstGeom prst="roundRect">
            <a:avLst>
              <a:gd name="adj" fmla="val 14286"/>
            </a:avLst>
          </a:prstGeom>
          <a:solidFill>
            <a:srgbClr val="F4F8FF"/>
          </a:solidFill>
          <a:ln w="9525">
            <a:solidFill>
              <a:srgbClr val="D8E4F5"/>
            </a:solidFill>
            <a:prstDash val="solid"/>
          </a:ln>
        </p:spPr>
      </p:sp>
      <p:sp>
        <p:nvSpPr>
          <p:cNvPr id="54" name="Text 49"/>
          <p:cNvSpPr/>
          <p:nvPr/>
        </p:nvSpPr>
        <p:spPr>
          <a:xfrm>
            <a:off x="8385048" y="320954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 外采契约跟进 + 适配器（契约后 1 周）</a:t>
            </a:r>
            <a:endParaRPr lang="en-US" sz="900" dirty="0"/>
          </a:p>
        </p:txBody>
      </p:sp>
      <p:sp>
        <p:nvSpPr>
          <p:cNvPr id="55" name="Shape 50"/>
          <p:cNvSpPr/>
          <p:nvPr/>
        </p:nvSpPr>
        <p:spPr>
          <a:xfrm>
            <a:off x="8275320" y="3675888"/>
            <a:ext cx="3200400" cy="658368"/>
          </a:xfrm>
          <a:prstGeom prst="roundRect">
            <a:avLst>
              <a:gd name="adj" fmla="val 8333"/>
            </a:avLst>
          </a:prstGeom>
          <a:solidFill>
            <a:srgbClr val="E8F2FF"/>
          </a:solidFill>
          <a:ln/>
        </p:spPr>
      </p:sp>
      <p:sp>
        <p:nvSpPr>
          <p:cNvPr id="56" name="Text 51"/>
          <p:cNvSpPr/>
          <p:nvPr/>
        </p:nvSpPr>
        <p:spPr>
          <a:xfrm>
            <a:off x="8385048" y="3712464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系列出口验收：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迁移幂等 · 适配器注入即用 · 外采 shadow→active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DB Copilot · 项目汇报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6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分工与验收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585216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D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排期总览：三线并行 · 三个集成关卡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600200" y="1810512"/>
            <a:ext cx="838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7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438400" y="1810512"/>
            <a:ext cx="838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7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W2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438400" y="2057400"/>
            <a:ext cx="0" cy="3977640"/>
          </a:xfrm>
          <a:prstGeom prst="line">
            <a:avLst/>
          </a:prstGeom>
          <a:noFill/>
          <a:ln w="9525">
            <a:solidFill>
              <a:srgbClr val="EEF3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76600" y="1810512"/>
            <a:ext cx="838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7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76600" y="2057400"/>
            <a:ext cx="0" cy="3977640"/>
          </a:xfrm>
          <a:prstGeom prst="line">
            <a:avLst/>
          </a:prstGeom>
          <a:noFill/>
          <a:ln w="9525">
            <a:solidFill>
              <a:srgbClr val="EEF3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0" y="1810512"/>
            <a:ext cx="838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7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W4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114800" y="2057400"/>
            <a:ext cx="0" cy="3977640"/>
          </a:xfrm>
          <a:prstGeom prst="line">
            <a:avLst/>
          </a:prstGeom>
          <a:noFill/>
          <a:ln w="9525">
            <a:solidFill>
              <a:srgbClr val="EEF3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53000" y="1810512"/>
            <a:ext cx="838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7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W5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953000" y="2057400"/>
            <a:ext cx="0" cy="3977640"/>
          </a:xfrm>
          <a:prstGeom prst="line">
            <a:avLst/>
          </a:prstGeom>
          <a:noFill/>
          <a:ln w="9525">
            <a:solidFill>
              <a:srgbClr val="EEF3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91200" y="1810512"/>
            <a:ext cx="838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7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791200" y="2057400"/>
            <a:ext cx="0" cy="3977640"/>
          </a:xfrm>
          <a:prstGeom prst="line">
            <a:avLst/>
          </a:prstGeom>
          <a:noFill/>
          <a:ln w="9525">
            <a:solidFill>
              <a:srgbClr val="EEF3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9400" y="1810512"/>
            <a:ext cx="838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7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W7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629400" y="2057400"/>
            <a:ext cx="0" cy="3977640"/>
          </a:xfrm>
          <a:prstGeom prst="line">
            <a:avLst/>
          </a:prstGeom>
          <a:noFill/>
          <a:ln w="9525">
            <a:solidFill>
              <a:srgbClr val="EEF3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67600" y="1810512"/>
            <a:ext cx="838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7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W8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467600" y="2057400"/>
            <a:ext cx="0" cy="3977640"/>
          </a:xfrm>
          <a:prstGeom prst="line">
            <a:avLst/>
          </a:prstGeom>
          <a:noFill/>
          <a:ln w="9525">
            <a:solidFill>
              <a:srgbClr val="EEF3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05800" y="1810512"/>
            <a:ext cx="838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7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W9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8305800" y="2057400"/>
            <a:ext cx="0" cy="3977640"/>
          </a:xfrm>
          <a:prstGeom prst="line">
            <a:avLst/>
          </a:prstGeom>
          <a:noFill/>
          <a:ln w="9525">
            <a:solidFill>
              <a:srgbClr val="EEF3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0" y="1810512"/>
            <a:ext cx="838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7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W10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9144000" y="2057400"/>
            <a:ext cx="0" cy="3977640"/>
          </a:xfrm>
          <a:prstGeom prst="line">
            <a:avLst/>
          </a:prstGeom>
          <a:noFill/>
          <a:ln w="9525">
            <a:solidFill>
              <a:srgbClr val="EEF3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82200" y="1810512"/>
            <a:ext cx="838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7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W11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9982200" y="2057400"/>
            <a:ext cx="0" cy="3977640"/>
          </a:xfrm>
          <a:prstGeom prst="line">
            <a:avLst/>
          </a:prstGeom>
          <a:noFill/>
          <a:ln w="9525">
            <a:solidFill>
              <a:srgbClr val="EEF3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820400" y="1810512"/>
            <a:ext cx="838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7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W12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0820400" y="2057400"/>
            <a:ext cx="0" cy="3977640"/>
          </a:xfrm>
          <a:prstGeom prst="line">
            <a:avLst/>
          </a:prstGeom>
          <a:noFill/>
          <a:ln w="9525">
            <a:solidFill>
              <a:srgbClr val="EEF3F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53000" y="1737360"/>
            <a:ext cx="0" cy="4096512"/>
          </a:xfrm>
          <a:prstGeom prst="line">
            <a:avLst/>
          </a:prstGeom>
          <a:noFill/>
          <a:ln w="12700">
            <a:solidFill>
              <a:srgbClr val="D8E4F5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8305800" y="1737360"/>
            <a:ext cx="0" cy="4096512"/>
          </a:xfrm>
          <a:prstGeom prst="line">
            <a:avLst/>
          </a:prstGeom>
          <a:noFill/>
          <a:ln w="12700">
            <a:solidFill>
              <a:srgbClr val="D8E4F5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600200" y="5138928"/>
            <a:ext cx="335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M1 · 第 1 月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953000" y="5138928"/>
            <a:ext cx="335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M2 · 第 2 月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305800" y="5138928"/>
            <a:ext cx="335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M3 · 第 3 月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65760" y="240487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系列1 · 本人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1600200" y="2103120"/>
            <a:ext cx="10058400" cy="969264"/>
          </a:xfrm>
          <a:prstGeom prst="roundRect">
            <a:avLst>
              <a:gd name="adj" fmla="val 4717"/>
            </a:avLst>
          </a:prstGeom>
          <a:solidFill>
            <a:srgbClr val="F4F8FF"/>
          </a:solidFill>
          <a:ln w="9525">
            <a:solidFill>
              <a:srgbClr val="D8E4F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636776" y="2267712"/>
            <a:ext cx="1603248" cy="457200"/>
          </a:xfrm>
          <a:prstGeom prst="roundRect">
            <a:avLst>
              <a:gd name="adj" fmla="val 12000"/>
            </a:avLst>
          </a:prstGeom>
          <a:solidFill>
            <a:srgbClr val="006AFF"/>
          </a:solidFill>
          <a:ln/>
        </p:spPr>
      </p:sp>
      <p:sp>
        <p:nvSpPr>
          <p:cNvPr id="37" name="Text 35"/>
          <p:cNvSpPr/>
          <p:nvPr/>
        </p:nvSpPr>
        <p:spPr>
          <a:xfrm>
            <a:off x="1636776" y="2258568"/>
            <a:ext cx="1603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 骨架与桩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313176" y="2267712"/>
            <a:ext cx="3279648" cy="457200"/>
          </a:xfrm>
          <a:prstGeom prst="roundRect">
            <a:avLst>
              <a:gd name="adj" fmla="val 12000"/>
            </a:avLst>
          </a:prstGeom>
          <a:solidFill>
            <a:srgbClr val="006AFF"/>
          </a:solidFill>
          <a:ln/>
        </p:spPr>
      </p:sp>
      <p:sp>
        <p:nvSpPr>
          <p:cNvPr id="39" name="Text 37"/>
          <p:cNvSpPr/>
          <p:nvPr/>
        </p:nvSpPr>
        <p:spPr>
          <a:xfrm>
            <a:off x="3313176" y="2258568"/>
            <a:ext cx="3279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1.2-1.3/1.6 数据服务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989576" y="2267712"/>
            <a:ext cx="1603248" cy="457200"/>
          </a:xfrm>
          <a:prstGeom prst="roundRect">
            <a:avLst>
              <a:gd name="adj" fmla="val 12000"/>
            </a:avLst>
          </a:prstGeom>
          <a:solidFill>
            <a:srgbClr val="006AFF"/>
          </a:solidFill>
          <a:ln/>
        </p:spPr>
      </p:sp>
      <p:sp>
        <p:nvSpPr>
          <p:cNvPr id="41" name="Text 39"/>
          <p:cNvSpPr/>
          <p:nvPr/>
        </p:nvSpPr>
        <p:spPr>
          <a:xfrm>
            <a:off x="4989576" y="2258568"/>
            <a:ext cx="1603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1.4-1.5 任务与 SSE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665976" y="2267712"/>
            <a:ext cx="3279648" cy="457200"/>
          </a:xfrm>
          <a:prstGeom prst="roundRect">
            <a:avLst>
              <a:gd name="adj" fmla="val 12000"/>
            </a:avLst>
          </a:prstGeom>
          <a:solidFill>
            <a:srgbClr val="006AFF"/>
          </a:solidFill>
          <a:ln/>
        </p:spPr>
      </p:sp>
      <p:sp>
        <p:nvSpPr>
          <p:cNvPr id="43" name="Text 41"/>
          <p:cNvSpPr/>
          <p:nvPr/>
        </p:nvSpPr>
        <p:spPr>
          <a:xfrm>
            <a:off x="6665976" y="2258568"/>
            <a:ext cx="3279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1.7 前端联调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10018776" y="2267712"/>
            <a:ext cx="1603248" cy="457200"/>
          </a:xfrm>
          <a:prstGeom prst="roundRect">
            <a:avLst>
              <a:gd name="adj" fmla="val 12000"/>
            </a:avLst>
          </a:prstGeom>
          <a:solidFill>
            <a:srgbClr val="006AFF"/>
          </a:solidFill>
          <a:ln/>
        </p:spPr>
      </p:sp>
      <p:sp>
        <p:nvSpPr>
          <p:cNvPr id="45" name="Text 43"/>
          <p:cNvSpPr/>
          <p:nvPr/>
        </p:nvSpPr>
        <p:spPr>
          <a:xfrm>
            <a:off x="10018776" y="2258568"/>
            <a:ext cx="1603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1.8 交付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365760" y="368503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系列2 · 工程师A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1600200" y="3383280"/>
            <a:ext cx="10058400" cy="969264"/>
          </a:xfrm>
          <a:prstGeom prst="roundRect">
            <a:avLst>
              <a:gd name="adj" fmla="val 4717"/>
            </a:avLst>
          </a:prstGeom>
          <a:solidFill>
            <a:srgbClr val="F4F8FF"/>
          </a:solidFill>
          <a:ln w="9525">
            <a:solidFill>
              <a:srgbClr val="D8E4F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474976" y="3547872"/>
            <a:ext cx="1603248" cy="457200"/>
          </a:xfrm>
          <a:prstGeom prst="roundRect">
            <a:avLst>
              <a:gd name="adj" fmla="val 12000"/>
            </a:avLst>
          </a:prstGeom>
          <a:solidFill>
            <a:srgbClr val="0F5132"/>
          </a:solidFill>
          <a:ln/>
        </p:spPr>
      </p:sp>
      <p:sp>
        <p:nvSpPr>
          <p:cNvPr id="49" name="Text 47"/>
          <p:cNvSpPr/>
          <p:nvPr/>
        </p:nvSpPr>
        <p:spPr>
          <a:xfrm>
            <a:off x="2474976" y="3538728"/>
            <a:ext cx="1603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 契约 fixtures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313176" y="3547872"/>
            <a:ext cx="3279648" cy="457200"/>
          </a:xfrm>
          <a:prstGeom prst="roundRect">
            <a:avLst>
              <a:gd name="adj" fmla="val 12000"/>
            </a:avLst>
          </a:prstGeom>
          <a:solidFill>
            <a:srgbClr val="0F5132"/>
          </a:solidFill>
          <a:ln/>
        </p:spPr>
      </p:sp>
      <p:sp>
        <p:nvSpPr>
          <p:cNvPr id="51" name="Text 49"/>
          <p:cNvSpPr/>
          <p:nvPr/>
        </p:nvSpPr>
        <p:spPr>
          <a:xfrm>
            <a:off x="3313176" y="3538728"/>
            <a:ext cx="3279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 运行时基座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989576" y="3547872"/>
            <a:ext cx="3279648" cy="457200"/>
          </a:xfrm>
          <a:prstGeom prst="roundRect">
            <a:avLst>
              <a:gd name="adj" fmla="val 12000"/>
            </a:avLst>
          </a:prstGeom>
          <a:solidFill>
            <a:srgbClr val="0F5132"/>
          </a:solidFill>
          <a:ln/>
        </p:spPr>
      </p:sp>
      <p:sp>
        <p:nvSpPr>
          <p:cNvPr id="53" name="Text 51"/>
          <p:cNvSpPr/>
          <p:nvPr/>
        </p:nvSpPr>
        <p:spPr>
          <a:xfrm>
            <a:off x="4989576" y="3538728"/>
            <a:ext cx="3279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 诊断专家+续聊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8342376" y="3547872"/>
            <a:ext cx="1603248" cy="457200"/>
          </a:xfrm>
          <a:prstGeom prst="roundRect">
            <a:avLst>
              <a:gd name="adj" fmla="val 12000"/>
            </a:avLst>
          </a:prstGeom>
          <a:solidFill>
            <a:srgbClr val="0F5132"/>
          </a:solidFill>
          <a:ln/>
        </p:spPr>
      </p:sp>
      <p:sp>
        <p:nvSpPr>
          <p:cNvPr id="55" name="Text 53"/>
          <p:cNvSpPr/>
          <p:nvPr/>
        </p:nvSpPr>
        <p:spPr>
          <a:xfrm>
            <a:off x="8342376" y="3538728"/>
            <a:ext cx="1603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2.4 问数专家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365760" y="496519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系列3 · 工程师B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1600200" y="4663440"/>
            <a:ext cx="10058400" cy="969264"/>
          </a:xfrm>
          <a:prstGeom prst="roundRect">
            <a:avLst>
              <a:gd name="adj" fmla="val 4717"/>
            </a:avLst>
          </a:prstGeom>
          <a:solidFill>
            <a:srgbClr val="F4F8FF"/>
          </a:solidFill>
          <a:ln w="9525">
            <a:solidFill>
              <a:srgbClr val="D8E4F5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636776" y="4828032"/>
            <a:ext cx="1603248" cy="457200"/>
          </a:xfrm>
          <a:prstGeom prst="roundRect">
            <a:avLst>
              <a:gd name="adj" fmla="val 12000"/>
            </a:avLst>
          </a:prstGeom>
          <a:solidFill>
            <a:srgbClr val="6E3A07"/>
          </a:solidFill>
          <a:ln/>
        </p:spPr>
      </p:sp>
      <p:sp>
        <p:nvSpPr>
          <p:cNvPr id="59" name="Text 57"/>
          <p:cNvSpPr/>
          <p:nvPr/>
        </p:nvSpPr>
        <p:spPr>
          <a:xfrm>
            <a:off x="1636776" y="4818888"/>
            <a:ext cx="1603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 Schema+编排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3313176" y="4828032"/>
            <a:ext cx="3279648" cy="457200"/>
          </a:xfrm>
          <a:prstGeom prst="roundRect">
            <a:avLst>
              <a:gd name="adj" fmla="val 12000"/>
            </a:avLst>
          </a:prstGeom>
          <a:solidFill>
            <a:srgbClr val="6E3A07"/>
          </a:solidFill>
          <a:ln/>
        </p:spPr>
      </p:sp>
      <p:sp>
        <p:nvSpPr>
          <p:cNvPr id="61" name="Text 59"/>
          <p:cNvSpPr/>
          <p:nvPr/>
        </p:nvSpPr>
        <p:spPr>
          <a:xfrm>
            <a:off x="3313176" y="4818888"/>
            <a:ext cx="3279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 旧系统适配器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8342376" y="4828032"/>
            <a:ext cx="2441448" cy="457200"/>
          </a:xfrm>
          <a:prstGeom prst="roundRect">
            <a:avLst>
              <a:gd name="adj" fmla="val 12000"/>
            </a:avLst>
          </a:prstGeom>
          <a:solidFill>
            <a:srgbClr val="6E3A07">
              <a:alpha val="45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8342376" y="4818888"/>
            <a:ext cx="244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 外采适配器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6473952" y="5532120"/>
            <a:ext cx="310896" cy="310896"/>
          </a:xfrm>
          <a:prstGeom prst="ellipse">
            <a:avLst/>
          </a:prstGeom>
          <a:solidFill>
            <a:srgbClr val="FF9500"/>
          </a:solidFill>
          <a:ln/>
        </p:spPr>
      </p:sp>
      <p:pic>
        <p:nvPicPr>
          <p:cNvPr id="6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8567" y="5606735"/>
            <a:ext cx="161666" cy="161666"/>
          </a:xfrm>
          <a:prstGeom prst="rect">
            <a:avLst/>
          </a:prstGeom>
        </p:spPr>
      </p:pic>
      <p:sp>
        <p:nvSpPr>
          <p:cNvPr id="66" name="Text 63"/>
          <p:cNvSpPr/>
          <p:nvPr/>
        </p:nvSpPr>
        <p:spPr>
          <a:xfrm>
            <a:off x="5669280" y="587044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46B0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集成① W6</a:t>
            </a:r>
            <a:endParaRPr lang="en-US" sz="950" dirty="0"/>
          </a:p>
        </p:txBody>
      </p:sp>
      <p:sp>
        <p:nvSpPr>
          <p:cNvPr id="67" name="Text 64"/>
          <p:cNvSpPr/>
          <p:nvPr/>
        </p:nvSpPr>
        <p:spPr>
          <a:xfrm>
            <a:off x="5257800" y="608990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apiserver↔Agent 换 URL 互连，fixtures 双端一致</a:t>
            </a:r>
            <a:endParaRPr lang="en-US" sz="800" dirty="0"/>
          </a:p>
        </p:txBody>
      </p:sp>
      <p:sp>
        <p:nvSpPr>
          <p:cNvPr id="68" name="Shape 65"/>
          <p:cNvSpPr/>
          <p:nvPr/>
        </p:nvSpPr>
        <p:spPr>
          <a:xfrm>
            <a:off x="8150352" y="5532120"/>
            <a:ext cx="310896" cy="310896"/>
          </a:xfrm>
          <a:prstGeom prst="ellipse">
            <a:avLst/>
          </a:prstGeom>
          <a:solidFill>
            <a:srgbClr val="FF9500"/>
          </a:solidFill>
          <a:ln/>
        </p:spPr>
      </p:sp>
      <p:pic>
        <p:nvPicPr>
          <p:cNvPr id="6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4967" y="5606735"/>
            <a:ext cx="161666" cy="161666"/>
          </a:xfrm>
          <a:prstGeom prst="rect">
            <a:avLst/>
          </a:prstGeom>
        </p:spPr>
      </p:pic>
      <p:sp>
        <p:nvSpPr>
          <p:cNvPr id="70" name="Text 66"/>
          <p:cNvSpPr/>
          <p:nvPr/>
        </p:nvSpPr>
        <p:spPr>
          <a:xfrm>
            <a:off x="7345680" y="587044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46B0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集成② W8</a:t>
            </a:r>
            <a:endParaRPr lang="en-US" sz="950" dirty="0"/>
          </a:p>
        </p:txBody>
      </p:sp>
      <p:sp>
        <p:nvSpPr>
          <p:cNvPr id="71" name="Text 67"/>
          <p:cNvSpPr/>
          <p:nvPr/>
        </p:nvSpPr>
        <p:spPr>
          <a:xfrm>
            <a:off x="6934200" y="608990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北极星前半段真实链路（诊断→报告→追问）</a:t>
            </a:r>
            <a:endParaRPr lang="en-US" sz="800" dirty="0"/>
          </a:p>
        </p:txBody>
      </p:sp>
      <p:sp>
        <p:nvSpPr>
          <p:cNvPr id="72" name="Shape 68"/>
          <p:cNvSpPr/>
          <p:nvPr/>
        </p:nvSpPr>
        <p:spPr>
          <a:xfrm>
            <a:off x="9826752" y="5532120"/>
            <a:ext cx="310896" cy="310896"/>
          </a:xfrm>
          <a:prstGeom prst="ellipse">
            <a:avLst/>
          </a:prstGeom>
          <a:solidFill>
            <a:srgbClr val="FF9500"/>
          </a:solidFill>
          <a:ln/>
        </p:spPr>
      </p:sp>
      <p:pic>
        <p:nvPicPr>
          <p:cNvPr id="7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1367" y="5606735"/>
            <a:ext cx="161666" cy="161666"/>
          </a:xfrm>
          <a:prstGeom prst="rect">
            <a:avLst/>
          </a:prstGeom>
        </p:spPr>
      </p:pic>
      <p:sp>
        <p:nvSpPr>
          <p:cNvPr id="74" name="Text 69"/>
          <p:cNvSpPr/>
          <p:nvPr/>
        </p:nvSpPr>
        <p:spPr>
          <a:xfrm>
            <a:off x="9022080" y="587044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46B0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集成③ W10</a:t>
            </a:r>
            <a:endParaRPr lang="en-US" sz="950" dirty="0"/>
          </a:p>
        </p:txBody>
      </p:sp>
      <p:sp>
        <p:nvSpPr>
          <p:cNvPr id="75" name="Text 70"/>
          <p:cNvSpPr/>
          <p:nvPr/>
        </p:nvSpPr>
        <p:spPr>
          <a:xfrm>
            <a:off x="8610600" y="608990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问数接入 + 全场景串联</a:t>
            </a:r>
            <a:endParaRPr lang="en-US" sz="800" dirty="0"/>
          </a:p>
        </p:txBody>
      </p:sp>
      <p:sp>
        <p:nvSpPr>
          <p:cNvPr id="76" name="Text 71"/>
          <p:cNvSpPr/>
          <p:nvPr/>
        </p:nvSpPr>
        <p:spPr>
          <a:xfrm>
            <a:off x="502920" y="647395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7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依赖要点：系列2 只依赖契约 fixtures（不依赖本人进度）；3.1 零外部依赖 W1 即可开工；3.3 外采契约为唯一外部依赖（虚线示意）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DB Copilot · 项目汇报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6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分工与验收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585216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D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验收机制：契约优先，集成 = 换 URL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5577840" cy="2743200"/>
          </a:xfrm>
          <a:prstGeom prst="roundRect">
            <a:avLst>
              <a:gd name="adj" fmla="val 2333"/>
            </a:avLst>
          </a:prstGeom>
          <a:solidFill>
            <a:srgbClr val="FFFFFF"/>
          </a:solidFill>
          <a:ln w="9525">
            <a:solidFill>
              <a:srgbClr val="D8E4F5"/>
            </a:solidFill>
            <a:prstDash val="solid"/>
          </a:ln>
          <a:effectLst>
            <a:outerShdw sx="100000" sy="100000" kx="0" ky="0" algn="bl" rotWithShape="0" blurRad="63500" dist="25400" dir="5400000">
              <a:srgbClr val="1D2B45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7007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契约优先工作法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04672" y="2130552"/>
            <a:ext cx="310896" cy="310896"/>
          </a:xfrm>
          <a:prstGeom prst="ellipse">
            <a:avLst/>
          </a:prstGeom>
          <a:solidFill>
            <a:srgbClr val="006AFF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2130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61872" y="21031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文档契约 v1.1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11880" y="2103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 API / SSE 事件 / 卡片 JSON / 工具清单 / 状态机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960120" y="2450592"/>
            <a:ext cx="0" cy="201168"/>
          </a:xfrm>
          <a:prstGeom prst="line">
            <a:avLst/>
          </a:prstGeom>
          <a:noFill/>
          <a:ln w="15240">
            <a:solidFill>
              <a:srgbClr val="D8E4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" y="2679192"/>
            <a:ext cx="310896" cy="310896"/>
          </a:xfrm>
          <a:prstGeom prst="ellipse">
            <a:avLst/>
          </a:prstGeom>
          <a:solidFill>
            <a:srgbClr val="006AFF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2679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61872" y="26517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contracts/ fixtures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11880" y="2651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JSON 样品 + Schema 校验，进 CI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960120" y="2999232"/>
            <a:ext cx="0" cy="201168"/>
          </a:xfrm>
          <a:prstGeom prst="line">
            <a:avLst/>
          </a:prstGeom>
          <a:noFill/>
          <a:ln w="15240">
            <a:solidFill>
              <a:srgbClr val="D8E4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" y="3227832"/>
            <a:ext cx="310896" cy="310896"/>
          </a:xfrm>
          <a:prstGeom prst="ellipse">
            <a:avLst/>
          </a:prstGeom>
          <a:solidFill>
            <a:srgbClr val="006AFF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" y="32278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261872" y="32004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三系列各自对 fixtures 自测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11880" y="3200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不依赖对方进度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960120" y="3547872"/>
            <a:ext cx="0" cy="201168"/>
          </a:xfrm>
          <a:prstGeom prst="line">
            <a:avLst/>
          </a:prstGeom>
          <a:noFill/>
          <a:ln w="15240">
            <a:solidFill>
              <a:srgbClr val="D8E4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" y="3776472"/>
            <a:ext cx="310896" cy="310896"/>
          </a:xfrm>
          <a:prstGeom prst="ellipse">
            <a:avLst/>
          </a:prstGeom>
          <a:solidFill>
            <a:srgbClr val="006AFF"/>
          </a:solidFill>
          <a:ln/>
        </p:spPr>
      </p:sp>
      <p:sp>
        <p:nvSpPr>
          <p:cNvPr id="24" name="Text 22"/>
          <p:cNvSpPr/>
          <p:nvPr/>
        </p:nvSpPr>
        <p:spPr>
          <a:xfrm>
            <a:off x="804672" y="3776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261872" y="37490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 = 换 URL / 注入实现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611880" y="3749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与前端已验证的 Mock→Api 模式同构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02920" y="4443984"/>
            <a:ext cx="5577840" cy="566928"/>
          </a:xfrm>
          <a:prstGeom prst="roundRect">
            <a:avLst>
              <a:gd name="adj" fmla="val 9677"/>
            </a:avLst>
          </a:prstGeom>
          <a:solidFill>
            <a:srgbClr val="FFF4E5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4443984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纪律：契约变更必须先改 fixture 并三方会签，再改实现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02920" y="5175504"/>
            <a:ext cx="55778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9525">
            <a:solidFill>
              <a:srgbClr val="D8E4F5"/>
            </a:solidFill>
            <a:prstDash val="solid"/>
          </a:ln>
          <a:effectLst>
            <a:outerShdw sx="100000" sy="100000" kx="0" ky="0" algn="bl" rotWithShape="0" blurRad="63500" dist="25400" dir="5400000">
              <a:srgbClr val="1D2B45">
                <a:alpha val="7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77240" y="53218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验收标准示例（全部可执行 / 可量化）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04672" y="561441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pytest 契约回放一致 · LLM 路由准确率 ≥80%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04672" y="586130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迁移幂等两遍无差异 · 2 副本 50 并发无串扰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04672" y="610819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越界问数 100% 拒答 · 重启恢复对账通过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00800" y="151790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风险与缓解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400800" y="1920240"/>
            <a:ext cx="5285232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D8E4F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65392" y="2139696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FFECE8"/>
          </a:solidFill>
          <a:ln/>
        </p:spPr>
      </p:sp>
      <p:sp>
        <p:nvSpPr>
          <p:cNvPr id="37" name="Text 35"/>
          <p:cNvSpPr/>
          <p:nvPr/>
        </p:nvSpPr>
        <p:spPr>
          <a:xfrm>
            <a:off x="6565392" y="213055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205472" y="20116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外采契约未到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205472" y="2304288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适配器抽象 + 自建工具兜底 + 周会跟踪索取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400800" y="2816352"/>
            <a:ext cx="5285232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D8E4F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65392" y="3035808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E8F2FF"/>
          </a:solidFill>
          <a:ln/>
        </p:spPr>
      </p:sp>
      <p:sp>
        <p:nvSpPr>
          <p:cNvPr id="42" name="Text 40"/>
          <p:cNvSpPr/>
          <p:nvPr/>
        </p:nvSpPr>
        <p:spPr>
          <a:xfrm>
            <a:off x="6565392" y="302666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205472" y="290779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网络连通性未确认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7205472" y="3200400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W1 确认部署位与旧系统/AI 平台网络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400800" y="3712464"/>
            <a:ext cx="5285232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D8E4F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565392" y="3931920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E8F2FF"/>
          </a:solidFill>
          <a:ln/>
        </p:spPr>
      </p:sp>
      <p:sp>
        <p:nvSpPr>
          <p:cNvPr id="47" name="Text 45"/>
          <p:cNvSpPr/>
          <p:nvPr/>
        </p:nvSpPr>
        <p:spPr>
          <a:xfrm>
            <a:off x="6565392" y="3922776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R3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205472" y="380390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平台模型未定名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7205472" y="4096512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端口配置化，任一兼容端点可开发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00800" y="4608576"/>
            <a:ext cx="5285232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D8E4F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565392" y="4828032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E8F2FF"/>
          </a:solidFill>
          <a:ln/>
        </p:spPr>
      </p:sp>
      <p:sp>
        <p:nvSpPr>
          <p:cNvPr id="52" name="Text 50"/>
          <p:cNvSpPr/>
          <p:nvPr/>
        </p:nvSpPr>
        <p:spPr>
          <a:xfrm>
            <a:off x="6565392" y="481888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R4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7205472" y="470001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契约漂移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7205472" y="4992624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fixtures 进 CI + 三方会签纪律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400800" y="5504688"/>
            <a:ext cx="5285232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D8E4F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565392" y="5724144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E8F2FF"/>
          </a:solidFill>
          <a:ln/>
        </p:spPr>
      </p:sp>
      <p:sp>
        <p:nvSpPr>
          <p:cNvPr id="57" name="Text 55"/>
          <p:cNvSpPr/>
          <p:nvPr/>
        </p:nvSpPr>
        <p:spPr>
          <a:xfrm>
            <a:off x="6565392" y="571500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R5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7205472" y="559612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系列2 关键路径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7205472" y="5888736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 延后时本人以内部 API 桩提前联调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D2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3566160"/>
            <a:ext cx="6400800" cy="6400800"/>
          </a:xfrm>
          <a:prstGeom prst="ellipse">
            <a:avLst/>
          </a:prstGeom>
          <a:solidFill>
            <a:srgbClr val="0052D9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2377440"/>
            <a:ext cx="5852160" cy="5852160"/>
          </a:xfrm>
          <a:prstGeom prst="ellipse">
            <a:avLst/>
          </a:prstGeom>
          <a:solidFill>
            <a:srgbClr val="006AFF">
              <a:alpha val="1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234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STAR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16916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实例变慢 → 大盘发现异常 → 一句话发起诊断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239572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真实证据采集 → 异步深度扫描 → 可追问的诊断报告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32004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6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MVP 北极星场景——一次链路验证五项架构核心假设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3977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需要支持的事项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443484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16223A"/>
          </a:solidFill>
          <a:ln w="9525">
            <a:solidFill>
              <a:srgbClr val="3245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78408" y="4617720"/>
            <a:ext cx="402336" cy="402336"/>
          </a:xfrm>
          <a:prstGeom prst="ellipse">
            <a:avLst/>
          </a:prstGeom>
          <a:solidFill>
            <a:srgbClr val="006AFF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969" y="4714281"/>
            <a:ext cx="209215" cy="20921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08760" y="459028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工程师 A / B 于 W1 到岗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96696" y="51389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FB6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AI 方向 ×1 · 数据集成方向 ×1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480560" y="443484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16223A"/>
          </a:solidFill>
          <a:ln w="9525">
            <a:solidFill>
              <a:srgbClr val="32456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681728" y="4617720"/>
            <a:ext cx="402336" cy="402336"/>
          </a:xfrm>
          <a:prstGeom prst="ellipse">
            <a:avLst/>
          </a:prstGeom>
          <a:solidFill>
            <a:srgbClr val="006AFF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8289" y="4714281"/>
            <a:ext cx="209215" cy="20921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212080" y="459028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网络连通性 W1 内确认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700016" y="51389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FB6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部署位 ↔ 旧监控 / DBaaS / AI 平台 / 外采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8183880" y="443484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16223A"/>
          </a:solidFill>
          <a:ln w="9525">
            <a:solidFill>
              <a:srgbClr val="32456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385048" y="4617720"/>
            <a:ext cx="402336" cy="402336"/>
          </a:xfrm>
          <a:prstGeom prst="ellipse">
            <a:avLst/>
          </a:prstGeom>
          <a:solidFill>
            <a:srgbClr val="006AFF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1609" y="4714281"/>
            <a:ext cx="209215" cy="209215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915400" y="459028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外采 API 契约本周索取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8403336" y="51389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FB6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唯一外部硬依赖，行动项已列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777240" y="61264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7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DB Copilot · 数据库智能运维平台　—　谢谢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数据库智能运维平台 · 项目汇报</dc:title>
  <dc:subject>PptxGenJS Presentation</dc:subject>
  <dc:creator>DB Copilot</dc:creator>
  <cp:lastModifiedBy>DB Copilot</cp:lastModifiedBy>
  <cp:revision>1</cp:revision>
  <dcterms:created xsi:type="dcterms:W3CDTF">2026-08-16T16:28:19Z</dcterms:created>
  <dcterms:modified xsi:type="dcterms:W3CDTF">2026-08-16T16:28:19Z</dcterms:modified>
</cp:coreProperties>
</file>